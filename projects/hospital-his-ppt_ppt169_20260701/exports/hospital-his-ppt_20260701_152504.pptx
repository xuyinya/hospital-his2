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562600" y="1181100"/>
            <a:ext cx="1066800" cy="1066800"/>
            <a:chOff x="5562600" y="1181100"/>
            <a:chExt cx="1066800" cy="1066800"/>
          </a:xfrm>
        </p:grpSpPr>
        <p:sp>
          <p:nvSpPr>
            <p:cNvPr id="5" name="Rectangle 5"/>
            <p:cNvSpPr/>
            <p:nvPr/>
          </p:nvSpPr>
          <p:spPr>
            <a:xfrm>
              <a:off x="5753100" y="1581150"/>
              <a:ext cx="685800" cy="152400"/>
            </a:xfrm>
            <a:prstGeom prst="roundRect">
              <a:avLst>
                <a:gd name="adj" fmla="val 25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962650" y="1371600"/>
              <a:ext cx="266700" cy="685800"/>
            </a:xfrm>
            <a:prstGeom prst="roundRect">
              <a:avLst>
                <a:gd name="adj" fmla="val 14286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5562600" y="1181100"/>
              <a:ext cx="1066800" cy="1066800"/>
            </a:xfrm>
            <a:prstGeom prst="ellipse">
              <a:avLst/>
            </a:prstGeom>
            <a:noFill/>
            <a:ln w="19050">
              <a:solidFill>
                <a:srgbClr val="06B6D4">
                  <a:alpha val="30000"/>
                </a:srgbClr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2349124" y="2339340"/>
            <a:ext cx="7493752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东软云医院系统（HIS）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13084" y="3265170"/>
            <a:ext cx="396582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医院门诊信息管理系统 </a:t>
            </a:r>
            <a:r>
              <a:rPr lang="zh-CN" sz="240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· 答辩</a:t>
            </a:r>
            <a:endParaRPr lang="zh-CN" sz="2400" dirty="0">
              <a:solidFill>
                <a:srgbClr val="64748B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11" name="Line 11"/>
          <p:cNvSpPr/>
          <p:nvPr/>
        </p:nvSpPr>
        <p:spPr>
          <a:xfrm>
            <a:off x="5143500" y="39052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944435" y="4377690"/>
            <a:ext cx="830313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前端 Vue 3 + Element Plus · 后端 Spring Boot 3.2.5 · 数据库 MySQL 8.0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08796" y="4886325"/>
            <a:ext cx="9744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2026年7月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4191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6498" y="345758"/>
            <a:ext cx="92251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4118" y="850582"/>
            <a:ext cx="109636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CONTENTS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52500" y="1485900"/>
            <a:ext cx="4953000" cy="533400"/>
            <a:chOff x="952500" y="1485900"/>
            <a:chExt cx="4953000" cy="533400"/>
          </a:xfrm>
        </p:grpSpPr>
        <p:sp>
          <p:nvSpPr>
            <p:cNvPr id="6" name="Rectangle 6"/>
            <p:cNvSpPr/>
            <p:nvPr/>
          </p:nvSpPr>
          <p:spPr>
            <a:xfrm>
              <a:off x="952500" y="1485900"/>
              <a:ext cx="4953000" cy="533400"/>
            </a:xfrm>
            <a:prstGeom prst="roundRect">
              <a:avLst>
                <a:gd name="adj" fmla="val 10714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6904" y="16992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14094" y="1618298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项目背景与技术栈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2500" y="2152650"/>
            <a:ext cx="4953000" cy="533400"/>
            <a:chOff x="952500" y="2152650"/>
            <a:chExt cx="4953000" cy="533400"/>
          </a:xfrm>
        </p:grpSpPr>
        <p:sp>
          <p:nvSpPr>
            <p:cNvPr id="10" name="Rectangle 10"/>
            <p:cNvSpPr/>
            <p:nvPr/>
          </p:nvSpPr>
          <p:spPr>
            <a:xfrm>
              <a:off x="952500" y="2152650"/>
              <a:ext cx="4953000" cy="533400"/>
            </a:xfrm>
            <a:prstGeom prst="roundRect">
              <a:avLst>
                <a:gd name="adj" fmla="val 10714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6904" y="23660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14094" y="22850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需求分析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36904" y="2951798"/>
            <a:ext cx="3586486" cy="381381"/>
            <a:chOff x="1136904" y="2951798"/>
            <a:chExt cx="3586486" cy="381381"/>
          </a:xfrm>
        </p:grpSpPr>
        <p:sp>
          <p:nvSpPr>
            <p:cNvPr id="14" name="TextBox 14"/>
            <p:cNvSpPr txBox="1"/>
            <p:nvPr/>
          </p:nvSpPr>
          <p:spPr>
            <a:xfrm>
              <a:off x="1136904" y="30327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4094" y="2951798"/>
              <a:ext cx="32092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系统设计（架构 + 数据库）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36904" y="3618548"/>
            <a:ext cx="3061468" cy="381381"/>
            <a:chOff x="1136904" y="3618548"/>
            <a:chExt cx="3061468" cy="381381"/>
          </a:xfrm>
        </p:grpSpPr>
        <p:sp>
          <p:nvSpPr>
            <p:cNvPr id="17" name="TextBox 17"/>
            <p:cNvSpPr txBox="1"/>
            <p:nvPr/>
          </p:nvSpPr>
          <p:spPr>
            <a:xfrm>
              <a:off x="1136904" y="36995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14094" y="3618548"/>
              <a:ext cx="268427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管理员角色 — 系统管理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36904" y="4285298"/>
            <a:ext cx="3061468" cy="381381"/>
            <a:chOff x="1136904" y="4285298"/>
            <a:chExt cx="3061468" cy="381381"/>
          </a:xfrm>
        </p:grpSpPr>
        <p:sp>
          <p:nvSpPr>
            <p:cNvPr id="20" name="TextBox 20"/>
            <p:cNvSpPr txBox="1"/>
            <p:nvPr/>
          </p:nvSpPr>
          <p:spPr>
            <a:xfrm>
              <a:off x="1136904" y="43662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14094" y="4285298"/>
              <a:ext cx="268427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医生角色 — 接诊工作台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36904" y="4952048"/>
            <a:ext cx="2798959" cy="381381"/>
            <a:chOff x="1136904" y="4952048"/>
            <a:chExt cx="2798959" cy="381381"/>
          </a:xfrm>
        </p:grpSpPr>
        <p:sp>
          <p:nvSpPr>
            <p:cNvPr id="23" name="TextBox 23"/>
            <p:cNvSpPr txBox="1"/>
            <p:nvPr/>
          </p:nvSpPr>
          <p:spPr>
            <a:xfrm>
              <a:off x="1136904" y="50330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14094" y="4952048"/>
              <a:ext cx="24217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患者角色 — 自助门户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470904" y="1618298"/>
            <a:ext cx="3727399" cy="381381"/>
            <a:chOff x="6470904" y="1618298"/>
            <a:chExt cx="3727399" cy="381381"/>
          </a:xfrm>
        </p:grpSpPr>
        <p:sp>
          <p:nvSpPr>
            <p:cNvPr id="26" name="TextBox 26"/>
            <p:cNvSpPr txBox="1"/>
            <p:nvPr/>
          </p:nvSpPr>
          <p:spPr>
            <a:xfrm>
              <a:off x="6470904" y="16992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48094" y="1618298"/>
              <a:ext cx="335020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安全机制（JWT + BCrypt）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470904" y="2285048"/>
            <a:ext cx="2785834" cy="381381"/>
            <a:chOff x="6470904" y="2285048"/>
            <a:chExt cx="2785834" cy="381381"/>
          </a:xfrm>
        </p:grpSpPr>
        <p:sp>
          <p:nvSpPr>
            <p:cNvPr id="29" name="TextBox 29"/>
            <p:cNvSpPr txBox="1"/>
            <p:nvPr/>
          </p:nvSpPr>
          <p:spPr>
            <a:xfrm>
              <a:off x="6470904" y="23660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48094" y="2285048"/>
              <a:ext cx="240864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系统测试（30用例）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470904" y="2951798"/>
            <a:ext cx="1709547" cy="381381"/>
            <a:chOff x="6470904" y="2951798"/>
            <a:chExt cx="1709547" cy="381381"/>
          </a:xfrm>
        </p:grpSpPr>
        <p:sp>
          <p:nvSpPr>
            <p:cNvPr id="32" name="TextBox 32"/>
            <p:cNvSpPr txBox="1"/>
            <p:nvPr/>
          </p:nvSpPr>
          <p:spPr>
            <a:xfrm>
              <a:off x="6470904" y="30327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Arial"/>
                  <a:ea typeface="Arial"/>
                  <a:cs typeface="Arial"/>
                </a:rPr>
                <a:t>09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48094" y="2951798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部署与运维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470904" y="3618548"/>
            <a:ext cx="1972056" cy="381381"/>
            <a:chOff x="6470904" y="3618548"/>
            <a:chExt cx="1972056" cy="381381"/>
          </a:xfrm>
        </p:grpSpPr>
        <p:sp>
          <p:nvSpPr>
            <p:cNvPr id="35" name="TextBox 35"/>
            <p:cNvSpPr txBox="1"/>
            <p:nvPr/>
          </p:nvSpPr>
          <p:spPr>
            <a:xfrm>
              <a:off x="6470904" y="36995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48094" y="3618548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系统演示效果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470904" y="4285298"/>
            <a:ext cx="1709547" cy="381381"/>
            <a:chOff x="6470904" y="4285298"/>
            <a:chExt cx="1709547" cy="381381"/>
          </a:xfrm>
        </p:grpSpPr>
        <p:sp>
          <p:nvSpPr>
            <p:cNvPr id="38" name="TextBox 38"/>
            <p:cNvSpPr txBox="1"/>
            <p:nvPr/>
          </p:nvSpPr>
          <p:spPr>
            <a:xfrm>
              <a:off x="6470904" y="43662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Arial"/>
                  <a:ea typeface="Arial"/>
                  <a:cs typeface="Arial"/>
                </a:rPr>
                <a:t>11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48094" y="4285298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总结与展望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5284956" y="5759768"/>
            <a:ext cx="16220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答辩演示 · 共 25 页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4191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6498" y="345758"/>
            <a:ext cx="181302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5" name="Line 5"/>
          <p:cNvSpPr/>
          <p:nvPr/>
        </p:nvSpPr>
        <p:spPr>
          <a:xfrm>
            <a:off x="952500" y="87630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940308" y="1074420"/>
            <a:ext cx="5516880" cy="1274064"/>
            <a:chOff x="940308" y="1074420"/>
            <a:chExt cx="5516880" cy="1274064"/>
          </a:xfrm>
        </p:grpSpPr>
        <p:sp>
          <p:nvSpPr>
            <p:cNvPr id="6" name="TextBox 6"/>
            <p:cNvSpPr txBox="1"/>
            <p:nvPr/>
          </p:nvSpPr>
          <p:spPr>
            <a:xfrm>
              <a:off x="940308" y="1074420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医院门诊信息化是医疗改革的核心环节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3356" y="159639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传统纸质流程效率低下、数据孤岛严重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3356" y="1996440"/>
              <a:ext cx="48956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B/S架构的HIS系统可实现全流程数字化管理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2500" y="2857500"/>
            <a:ext cx="3143250" cy="952500"/>
            <a:chOff x="952500" y="2857500"/>
            <a:chExt cx="3143250" cy="952500"/>
          </a:xfrm>
        </p:grpSpPr>
        <p:sp>
          <p:nvSpPr>
            <p:cNvPr id="10" name="Rectangle 10"/>
            <p:cNvSpPr/>
            <p:nvPr/>
          </p:nvSpPr>
          <p:spPr>
            <a:xfrm>
              <a:off x="952500" y="2857500"/>
              <a:ext cx="3143250" cy="952500"/>
            </a:xfrm>
            <a:prstGeom prst="roundRect">
              <a:avLst>
                <a:gd name="adj" fmla="val 8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4618" y="30222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系统模块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9284" y="3251835"/>
              <a:ext cx="9433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12 个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72000" y="2857500"/>
            <a:ext cx="3143250" cy="952500"/>
            <a:chOff x="4572000" y="2857500"/>
            <a:chExt cx="3143250" cy="952500"/>
          </a:xfrm>
        </p:grpSpPr>
        <p:sp>
          <p:nvSpPr>
            <p:cNvPr id="14" name="Rectangle 14"/>
            <p:cNvSpPr/>
            <p:nvPr/>
          </p:nvSpPr>
          <p:spPr>
            <a:xfrm>
              <a:off x="4572000" y="2857500"/>
              <a:ext cx="3143250" cy="952500"/>
            </a:xfrm>
            <a:prstGeom prst="roundRect">
              <a:avLst>
                <a:gd name="adj" fmla="val 8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54118" y="30222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数据表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48784" y="3251835"/>
              <a:ext cx="9433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13 张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91500" y="2857500"/>
            <a:ext cx="3143250" cy="952500"/>
            <a:chOff x="8191500" y="2857500"/>
            <a:chExt cx="3143250" cy="952500"/>
          </a:xfrm>
        </p:grpSpPr>
        <p:sp>
          <p:nvSpPr>
            <p:cNvPr id="18" name="Rectangle 18"/>
            <p:cNvSpPr/>
            <p:nvPr/>
          </p:nvSpPr>
          <p:spPr>
            <a:xfrm>
              <a:off x="8191500" y="2857500"/>
              <a:ext cx="3143250" cy="952500"/>
            </a:xfrm>
            <a:prstGeom prst="roundRect">
              <a:avLst>
                <a:gd name="adj" fmla="val 8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3618" y="3022282"/>
              <a:ext cx="885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API 接口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68284" y="3251835"/>
              <a:ext cx="11532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40+ 个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3356" y="4187190"/>
            <a:ext cx="8814359" cy="733044"/>
            <a:chOff x="943356" y="4187190"/>
            <a:chExt cx="8814359" cy="733044"/>
          </a:xfrm>
        </p:grpSpPr>
        <p:sp>
          <p:nvSpPr>
            <p:cNvPr id="22" name="TextBox 22"/>
            <p:cNvSpPr txBox="1"/>
            <p:nvPr/>
          </p:nvSpPr>
          <p:spPr>
            <a:xfrm>
              <a:off x="943356" y="4187190"/>
              <a:ext cx="67425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覆盖门诊全流程：挂号 → 就诊 → 病历 → 处方 → 检查检验 → 收费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3356" y="4568190"/>
              <a:ext cx="88143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三端分离：管理员端（后台管理） + 医生端（接诊工作台） + 患者端（自助门户）</a:t>
              </a:r>
            </a:p>
          </p:txBody>
        </p:sp>
      </p:grpSp>
      <p:sp>
        <p:nvSpPr>
          <p:cNvPr id="25" name="Ellipse 25"/>
          <p:cNvSpPr/>
          <p:nvPr/>
        </p:nvSpPr>
        <p:spPr>
          <a:xfrm>
            <a:off x="10191750" y="381000"/>
            <a:ext cx="1524000" cy="1524000"/>
          </a:xfrm>
          <a:prstGeom prst="ellipse">
            <a:avLst/>
          </a:prstGeom>
          <a:solidFill>
            <a:srgbClr val="F0F4FF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10477500" y="666750"/>
            <a:ext cx="952500" cy="952500"/>
          </a:xfrm>
          <a:prstGeom prst="ellipse">
            <a:avLst/>
          </a:prstGeom>
          <a:noFill/>
          <a:ln w="9525">
            <a:solidFill>
              <a:srgbClr val="2563EB">
                <a:alpha val="20000"/>
              </a:srgbClr>
            </a:solidFill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4191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6498" y="345758"/>
            <a:ext cx="225828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技术栈总览</a:t>
            </a:r>
          </a:p>
        </p:txBody>
      </p:sp>
      <p:sp>
        <p:nvSpPr>
          <p:cNvPr id="5" name="Line 5"/>
          <p:cNvSpPr/>
          <p:nvPr/>
        </p:nvSpPr>
        <p:spPr>
          <a:xfrm>
            <a:off x="952500" y="8763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762000" y="1238250"/>
            <a:ext cx="5143500" cy="2286000"/>
          </a:xfrm>
          <a:prstGeom prst="roundRect">
            <a:avLst>
              <a:gd name="adj" fmla="val 3333"/>
            </a:avLst>
          </a:prstGeom>
          <a:solidFill>
            <a:srgbClr val="F0F4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7082" y="1440180"/>
            <a:ext cx="61501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前端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8606" y="1901190"/>
            <a:ext cx="131445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Vue 3.4.21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11880" y="1933575"/>
            <a:ext cx="223881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Composition API + Pinia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8606" y="2282190"/>
            <a:ext cx="224605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Element Plus 2.5.6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11880" y="2314575"/>
            <a:ext cx="90068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UI 组件库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8606" y="2663190"/>
            <a:ext cx="97401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Vite 5.x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1880" y="2695575"/>
            <a:ext cx="1082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构建 + HMR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8606" y="3044190"/>
            <a:ext cx="240952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Axios + Vue Router 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11880" y="3076575"/>
            <a:ext cx="115671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HTTP + 路由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86500" y="1238250"/>
            <a:ext cx="5143500" cy="2286000"/>
          </a:xfrm>
          <a:prstGeom prst="roundRect">
            <a:avLst>
              <a:gd name="adj" fmla="val 3333"/>
            </a:avLst>
          </a:prstGeom>
          <a:solidFill>
            <a:srgbClr val="F0F4F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561582" y="1440180"/>
            <a:ext cx="61501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后端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63106" y="1901190"/>
            <a:ext cx="212579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Spring Boot 3.2.5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36380" y="1933575"/>
            <a:ext cx="7524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Java 21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63106" y="2282190"/>
            <a:ext cx="170499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MyBatis 3.0.3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36380" y="2314575"/>
            <a:ext cx="1082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注解 + XML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3106" y="2663190"/>
            <a:ext cx="219856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MySQL 8.0 + Druid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36380" y="269557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连接池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63106" y="3044190"/>
            <a:ext cx="158374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Knife4j 4.4.0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36380" y="3076575"/>
            <a:ext cx="8046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API 文档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3810000"/>
            <a:ext cx="5143500" cy="1143000"/>
          </a:xfrm>
          <a:prstGeom prst="roundRect">
            <a:avLst>
              <a:gd name="adj" fmla="val 6667"/>
            </a:avLst>
          </a:prstGeom>
          <a:solidFill>
            <a:srgbClr val="F0F4F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037082" y="4011930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认证与安全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9368" y="4489132"/>
            <a:ext cx="512333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JWT (jjwt 0.12.5) + BCrypt + 拦截器 + 导航守卫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286500" y="3810000"/>
            <a:ext cx="5143500" cy="1143000"/>
          </a:xfrm>
          <a:prstGeom prst="roundRect">
            <a:avLst>
              <a:gd name="adj" fmla="val 6667"/>
            </a:avLst>
          </a:prstGeom>
          <a:solidFill>
            <a:srgbClr val="F0F4FF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561582" y="4011930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测试与构建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63868" y="4489132"/>
            <a:ext cx="448705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JUnit 5 + Mockito + Maven Surefire 3.5.3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12073" y="5719286"/>
            <a:ext cx="8767853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前后端分离 · RESTful API · JWT 认证 · 分层架构 · @Transactional · 30 单元测试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4191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6498" y="345758"/>
            <a:ext cx="181302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功能需求</a:t>
            </a:r>
          </a:p>
        </p:txBody>
      </p:sp>
      <p:sp>
        <p:nvSpPr>
          <p:cNvPr id="5" name="Line 5"/>
          <p:cNvSpPr/>
          <p:nvPr/>
        </p:nvSpPr>
        <p:spPr>
          <a:xfrm>
            <a:off x="952500" y="8763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44118" y="1012508"/>
            <a:ext cx="594744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系统覆盖门诊全流程，划分为 12 大功能模块 + 3 大用户角色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524000"/>
            <a:ext cx="7048500" cy="2667000"/>
            <a:chOff x="762000" y="1524000"/>
            <a:chExt cx="7048500" cy="2667000"/>
          </a:xfrm>
        </p:grpSpPr>
        <p:sp>
          <p:nvSpPr>
            <p:cNvPr id="7" name="Rectangle 7"/>
            <p:cNvSpPr/>
            <p:nvPr/>
          </p:nvSpPr>
          <p:spPr>
            <a:xfrm>
              <a:off x="762000" y="1524000"/>
              <a:ext cx="1619250" cy="762000"/>
            </a:xfrm>
            <a:prstGeom prst="roundRect">
              <a:avLst>
                <a:gd name="adj" fmla="val 75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18997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挂号管理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571750" y="1524000"/>
              <a:ext cx="1619250" cy="762000"/>
            </a:xfrm>
            <a:prstGeom prst="roundRect">
              <a:avLst>
                <a:gd name="adj" fmla="val 75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928747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患者管理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381500" y="1524000"/>
              <a:ext cx="1619250" cy="762000"/>
            </a:xfrm>
            <a:prstGeom prst="roundRect">
              <a:avLst>
                <a:gd name="adj" fmla="val 75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738497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医生管理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191250" y="1524000"/>
              <a:ext cx="1619250" cy="762000"/>
            </a:xfrm>
            <a:prstGeom prst="roundRect">
              <a:avLst>
                <a:gd name="adj" fmla="val 75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8247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药品管理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2476500"/>
              <a:ext cx="1619250" cy="762000"/>
            </a:xfrm>
            <a:prstGeom prst="roundRect">
              <a:avLst>
                <a:gd name="adj" fmla="val 75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18997" y="2755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病历管理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571750" y="2476500"/>
              <a:ext cx="1619250" cy="762000"/>
            </a:xfrm>
            <a:prstGeom prst="roundRect">
              <a:avLst>
                <a:gd name="adj" fmla="val 75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928747" y="2755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处方管理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381500" y="2476500"/>
              <a:ext cx="1619250" cy="762000"/>
            </a:xfrm>
            <a:prstGeom prst="roundRect">
              <a:avLst>
                <a:gd name="adj" fmla="val 75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38497" y="2755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检查管理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91250" y="2476500"/>
              <a:ext cx="1619250" cy="762000"/>
            </a:xfrm>
            <a:prstGeom prst="roundRect">
              <a:avLst>
                <a:gd name="adj" fmla="val 75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48247" y="2755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检验管理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3429000"/>
              <a:ext cx="1619250" cy="762000"/>
            </a:xfrm>
            <a:prstGeom prst="roundRect">
              <a:avLst>
                <a:gd name="adj" fmla="val 75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18997" y="3708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处置管理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571750" y="3429000"/>
              <a:ext cx="1619250" cy="762000"/>
            </a:xfrm>
            <a:prstGeom prst="roundRect">
              <a:avLst>
                <a:gd name="adj" fmla="val 75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928747" y="3708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收费管理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381500" y="3429000"/>
              <a:ext cx="1619250" cy="762000"/>
            </a:xfrm>
            <a:prstGeom prst="roundRect">
              <a:avLst>
                <a:gd name="adj" fmla="val 75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738497" y="3708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科室管理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191250" y="3429000"/>
              <a:ext cx="1619250" cy="762000"/>
            </a:xfrm>
            <a:prstGeom prst="roundRect">
              <a:avLst>
                <a:gd name="adj" fmla="val 75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37186" y="37080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接诊工作台</a:t>
              </a:r>
            </a:p>
          </p:txBody>
        </p:sp>
      </p:grpSp>
      <p:sp>
        <p:nvSpPr>
          <p:cNvPr id="32" name="Rectangle 32"/>
          <p:cNvSpPr/>
          <p:nvPr/>
        </p:nvSpPr>
        <p:spPr>
          <a:xfrm>
            <a:off x="762000" y="4667250"/>
            <a:ext cx="10668000" cy="1333500"/>
          </a:xfrm>
          <a:prstGeom prst="roundRect">
            <a:avLst>
              <a:gd name="adj" fmla="val 5714"/>
            </a:avLst>
          </a:prstGeom>
          <a:solidFill>
            <a:srgbClr val="F0F4FF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37082" y="4916805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三大用户角色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95856" y="5520690"/>
            <a:ext cx="7452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管理员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98142" y="5807392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基础数据维护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476750" y="5286375"/>
            <a:ext cx="19050" cy="4762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943856" y="5520690"/>
            <a:ext cx="5029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医生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946142" y="5807392"/>
            <a:ext cx="16675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接诊/写病历/开处方</a:t>
            </a:r>
          </a:p>
        </p:txBody>
      </p:sp>
      <p:sp>
        <p:nvSpPr>
          <p:cNvPr id="39" name="Rectangle 39"/>
          <p:cNvSpPr/>
          <p:nvPr/>
        </p:nvSpPr>
        <p:spPr>
          <a:xfrm>
            <a:off x="7524750" y="5286375"/>
            <a:ext cx="19050" cy="4762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991856" y="5520690"/>
            <a:ext cx="5029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患者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94142" y="5807392"/>
            <a:ext cx="15675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自助挂号/查看记录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4191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6498" y="345758"/>
            <a:ext cx="225828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非功能需求</a:t>
            </a:r>
          </a:p>
        </p:txBody>
      </p:sp>
      <p:sp>
        <p:nvSpPr>
          <p:cNvPr id="5" name="Line 5"/>
          <p:cNvSpPr/>
          <p:nvPr/>
        </p:nvSpPr>
        <p:spPr>
          <a:xfrm>
            <a:off x="952500" y="87630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grpSp>
        <p:nvGrpSpPr>
          <p:cNvPr id="10" name="Group 10"/>
          <p:cNvGrpSpPr/>
          <p:nvPr/>
        </p:nvGrpSpPr>
        <p:grpSpPr>
          <a:xfrm>
            <a:off x="762000" y="1333500"/>
            <a:ext cx="5617899" cy="1097089"/>
            <a:chOff x="762000" y="1333500"/>
            <a:chExt cx="5617899" cy="1097089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5143500" cy="1047750"/>
            </a:xfrm>
            <a:prstGeom prst="roundRect">
              <a:avLst>
                <a:gd name="adj" fmla="val 7273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7082" y="14878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数据安全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9368" y="1869758"/>
              <a:ext cx="53405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密码 BCrypt 加密 · JWT Token 认证 · 请求拦截验证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9368" y="2107882"/>
              <a:ext cx="36040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费用后端计算防篡改 · 角色导航守卫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286500" y="1333500"/>
            <a:ext cx="5143500" cy="1097089"/>
            <a:chOff x="6286500" y="1333500"/>
            <a:chExt cx="5143500" cy="1097089"/>
          </a:xfrm>
        </p:grpSpPr>
        <p:sp>
          <p:nvSpPr>
            <p:cNvPr id="11" name="Rectangle 11"/>
            <p:cNvSpPr/>
            <p:nvPr/>
          </p:nvSpPr>
          <p:spPr>
            <a:xfrm>
              <a:off x="6286500" y="1333500"/>
              <a:ext cx="5143500" cy="1047750"/>
            </a:xfrm>
            <a:prstGeom prst="roundRect">
              <a:avLst>
                <a:gd name="adj" fmla="val 7273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561582" y="148780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数据一致性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63868" y="1869758"/>
              <a:ext cx="36977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@Transactional 事务注解保证原子性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63868" y="2107882"/>
              <a:ext cx="31598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外键约束 · 删除前关联记录检查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2667000"/>
            <a:ext cx="5143500" cy="1097089"/>
            <a:chOff x="762000" y="2667000"/>
            <a:chExt cx="5143500" cy="1097089"/>
          </a:xfrm>
        </p:grpSpPr>
        <p:sp>
          <p:nvSpPr>
            <p:cNvPr id="16" name="Rectangle 16"/>
            <p:cNvSpPr/>
            <p:nvPr/>
          </p:nvSpPr>
          <p:spPr>
            <a:xfrm>
              <a:off x="762000" y="2667000"/>
              <a:ext cx="5143500" cy="1047750"/>
            </a:xfrm>
            <a:prstGeom prst="roundRect">
              <a:avLst>
                <a:gd name="adj" fmla="val 7273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37082" y="2821305"/>
              <a:ext cx="9118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可用性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9368" y="3203258"/>
              <a:ext cx="45095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统一 Result 返回格式 · ElMessage 错误提示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9368" y="3441382"/>
              <a:ext cx="39115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GlobalExceptionHandler 全局异常捕获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0" y="2667000"/>
            <a:ext cx="5143500" cy="1097089"/>
            <a:chOff x="6286500" y="2667000"/>
            <a:chExt cx="5143500" cy="1097089"/>
          </a:xfrm>
        </p:grpSpPr>
        <p:sp>
          <p:nvSpPr>
            <p:cNvPr id="21" name="Rectangle 21"/>
            <p:cNvSpPr/>
            <p:nvPr/>
          </p:nvSpPr>
          <p:spPr>
            <a:xfrm>
              <a:off x="6286500" y="2667000"/>
              <a:ext cx="5143500" cy="1047750"/>
            </a:xfrm>
            <a:prstGeom prst="roundRect">
              <a:avLst>
                <a:gd name="adj" fmla="val 7273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61582" y="28213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可维护性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63868" y="3203258"/>
              <a:ext cx="48162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分层架构 MVC · 统一命名规范 · 全量中文注释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63868" y="3441382"/>
              <a:ext cx="42961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Knife4j API 文档 · 30 单元测试 · GPL 3.0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938452" y="4456748"/>
            <a:ext cx="831509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系统设计要求：安全认证 + 事务一致 + 统一异常 + 分页标准 + 角色隔离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267055" y="4965382"/>
            <a:ext cx="765789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前后端均按 RESTful 规范设计，接口返回 {code, message, data} 统一封装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4191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6498" y="345758"/>
            <a:ext cx="270353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系统架构设计</a:t>
            </a:r>
          </a:p>
        </p:txBody>
      </p:sp>
      <p:sp>
        <p:nvSpPr>
          <p:cNvPr id="5" name="Line 5"/>
          <p:cNvSpPr/>
          <p:nvPr/>
        </p:nvSpPr>
        <p:spPr>
          <a:xfrm>
            <a:off x="952500" y="876300"/>
            <a:ext cx="2476500" cy="9525"/>
          </a:xfrm>
          <a:custGeom>
            <a:avLst/>
            <a:gdLst/>
            <a:ahLst/>
            <a:cxnLst/>
            <a:rect l="l" t="t" r="r" b="b"/>
            <a:pathLst>
              <a:path w="2476500" h="9525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44118" y="1012508"/>
            <a:ext cx="386577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前后端分离 B/S 架构 · 四层分层设计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52500" y="1619250"/>
            <a:ext cx="10287000" cy="3238500"/>
            <a:chOff x="952500" y="1619250"/>
            <a:chExt cx="10287000" cy="3238500"/>
          </a:xfrm>
        </p:grpSpPr>
        <p:sp>
          <p:nvSpPr>
            <p:cNvPr id="7" name="Rectangle 7"/>
            <p:cNvSpPr/>
            <p:nvPr/>
          </p:nvSpPr>
          <p:spPr>
            <a:xfrm>
              <a:off x="952500" y="1619250"/>
              <a:ext cx="10287000" cy="666750"/>
            </a:xfrm>
            <a:prstGeom prst="roundRect">
              <a:avLst>
                <a:gd name="adj" fmla="val 8571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572162" y="1844040"/>
              <a:ext cx="70476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前端层 — Vue 3 + Element Plus + Vue Router + Pinia + Axios</a:t>
              </a:r>
            </a:p>
          </p:txBody>
        </p:sp>
        <p:sp>
          <p:nvSpPr>
            <p:cNvPr id="9" name="Polygon 9"/>
            <p:cNvSpPr/>
            <p:nvPr/>
          </p:nvSpPr>
          <p:spPr>
            <a:xfrm>
              <a:off x="5905500" y="2286000"/>
              <a:ext cx="381000" cy="142875"/>
            </a:xfrm>
            <a:custGeom>
              <a:avLst/>
              <a:gdLst/>
              <a:ahLst/>
              <a:cxnLst/>
              <a:rect l="l" t="t" r="r" b="b"/>
              <a:pathLst>
                <a:path w="381000" h="142875">
                  <a:moveTo>
                    <a:pt x="190500" y="0"/>
                  </a:moveTo>
                  <a:lnTo>
                    <a:pt x="0" y="142875"/>
                  </a:lnTo>
                  <a:lnTo>
                    <a:pt x="381000" y="142875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952500" y="2476500"/>
              <a:ext cx="10287000" cy="666750"/>
            </a:xfrm>
            <a:prstGeom prst="roundRect">
              <a:avLst>
                <a:gd name="adj" fmla="val 8571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10209" y="2701290"/>
              <a:ext cx="89715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Controller 层 — RESTful API · JwtInterceptor 认证拦截 · 统一 Result 封装</a:t>
              </a:r>
            </a:p>
          </p:txBody>
        </p:sp>
        <p:sp>
          <p:nvSpPr>
            <p:cNvPr id="12" name="Polygon 12"/>
            <p:cNvSpPr/>
            <p:nvPr/>
          </p:nvSpPr>
          <p:spPr>
            <a:xfrm>
              <a:off x="5905500" y="3143250"/>
              <a:ext cx="381000" cy="142875"/>
            </a:xfrm>
            <a:custGeom>
              <a:avLst/>
              <a:gdLst/>
              <a:ahLst/>
              <a:cxnLst/>
              <a:rect l="l" t="t" r="r" b="b"/>
              <a:pathLst>
                <a:path w="381000" h="142875">
                  <a:moveTo>
                    <a:pt x="190500" y="0"/>
                  </a:moveTo>
                  <a:lnTo>
                    <a:pt x="0" y="142875"/>
                  </a:lnTo>
                  <a:lnTo>
                    <a:pt x="381000" y="142875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952500" y="3333750"/>
              <a:ext cx="10287000" cy="666750"/>
            </a:xfrm>
            <a:prstGeom prst="roundRect">
              <a:avLst>
                <a:gd name="adj" fmla="val 8571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756497" y="3558540"/>
              <a:ext cx="86790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Service 层 — @Transactional 事务管理 · 业务逻辑 · MyBatis Mapper 调用</a:t>
              </a:r>
            </a:p>
          </p:txBody>
        </p:sp>
        <p:sp>
          <p:nvSpPr>
            <p:cNvPr id="15" name="Polygon 15"/>
            <p:cNvSpPr/>
            <p:nvPr/>
          </p:nvSpPr>
          <p:spPr>
            <a:xfrm>
              <a:off x="5905500" y="4000500"/>
              <a:ext cx="381000" cy="142875"/>
            </a:xfrm>
            <a:custGeom>
              <a:avLst/>
              <a:gdLst/>
              <a:ahLst/>
              <a:cxnLst/>
              <a:rect l="l" t="t" r="r" b="b"/>
              <a:pathLst>
                <a:path w="381000" h="142875">
                  <a:moveTo>
                    <a:pt x="190500" y="0"/>
                  </a:moveTo>
                  <a:lnTo>
                    <a:pt x="0" y="142875"/>
                  </a:lnTo>
                  <a:lnTo>
                    <a:pt x="381000" y="142875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952500" y="4191000"/>
              <a:ext cx="10287000" cy="666750"/>
            </a:xfrm>
            <a:prstGeom prst="roundRect">
              <a:avLst>
                <a:gd name="adj" fmla="val 8571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87651" y="4415790"/>
              <a:ext cx="84166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数据层 — MySQL 8.0 · MyBatis 注解+XML · Druid 连接池 · 13张业务表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44118" y="4917758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请求流程：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4880" y="5267325"/>
            <a:ext cx="105673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浏览器 → Axios + JWT Header → Controller → Service(@Transactional) → Mapper → MySQL → Result JSON → 前端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5642" y="5712142"/>
            <a:ext cx="921869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JwtInterceptor 拦截 /api/** 路径(放行 /api/auth/login 及 Swagger) · 解析 Token 存入 Request Attribute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4191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6498" y="345758"/>
            <a:ext cx="225828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数据库设计</a:t>
            </a:r>
          </a:p>
        </p:txBody>
      </p:sp>
      <p:sp>
        <p:nvSpPr>
          <p:cNvPr id="5" name="Line 5"/>
          <p:cNvSpPr/>
          <p:nvPr/>
        </p:nvSpPr>
        <p:spPr>
          <a:xfrm>
            <a:off x="952500" y="8763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44118" y="1012508"/>
            <a:ext cx="52810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hospital_his 数据库 · 12 张核心表 + 1 张系统用户表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524000"/>
            <a:ext cx="10850404" cy="1285875"/>
            <a:chOff x="762000" y="1524000"/>
            <a:chExt cx="10850404" cy="1285875"/>
          </a:xfrm>
        </p:grpSpPr>
        <p:sp>
          <p:nvSpPr>
            <p:cNvPr id="7" name="Rectangle 7"/>
            <p:cNvSpPr/>
            <p:nvPr/>
          </p:nvSpPr>
          <p:spPr>
            <a:xfrm>
              <a:off x="762000" y="1524000"/>
              <a:ext cx="1619250" cy="571500"/>
            </a:xfrm>
            <a:prstGeom prst="roundRect">
              <a:avLst>
                <a:gd name="adj" fmla="val 10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8312" y="1724025"/>
              <a:ext cx="12066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patient 患者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571750" y="1524000"/>
              <a:ext cx="1619250" cy="571500"/>
            </a:xfrm>
            <a:prstGeom prst="roundRect">
              <a:avLst>
                <a:gd name="adj" fmla="val 10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566035" y="17240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department 科室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381500" y="1524000"/>
              <a:ext cx="1619250" cy="571500"/>
            </a:xfrm>
            <a:prstGeom prst="roundRect">
              <a:avLst>
                <a:gd name="adj" fmla="val 10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618101" y="1724025"/>
              <a:ext cx="11460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doctor 医生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191250" y="1524000"/>
              <a:ext cx="1619250" cy="571500"/>
            </a:xfrm>
            <a:prstGeom prst="roundRect">
              <a:avLst>
                <a:gd name="adj" fmla="val 10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145149" y="172402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registration 挂号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01000" y="1524000"/>
              <a:ext cx="1619250" cy="571500"/>
            </a:xfrm>
            <a:prstGeom prst="roundRect">
              <a:avLst>
                <a:gd name="adj" fmla="val 10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48662" y="1724025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drug 药品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810750" y="1524000"/>
              <a:ext cx="1619250" cy="571500"/>
            </a:xfrm>
            <a:prstGeom prst="roundRect">
              <a:avLst>
                <a:gd name="adj" fmla="val 10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936290" y="1724025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sys_user 用户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2238375"/>
              <a:ext cx="1619250" cy="571500"/>
            </a:xfrm>
            <a:prstGeom prst="roundRect">
              <a:avLst>
                <a:gd name="adj" fmla="val 10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6864" y="2438400"/>
              <a:ext cx="15095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medical_record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571750" y="2238375"/>
              <a:ext cx="1619250" cy="571500"/>
            </a:xfrm>
            <a:prstGeom prst="roundRect">
              <a:avLst>
                <a:gd name="adj" fmla="val 10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757868" y="2438400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prescription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381500" y="2238375"/>
              <a:ext cx="1619250" cy="571500"/>
            </a:xfrm>
            <a:prstGeom prst="roundRect">
              <a:avLst>
                <a:gd name="adj" fmla="val 10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29386" y="2438400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prescription_detail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191250" y="2238375"/>
              <a:ext cx="1619250" cy="571500"/>
            </a:xfrm>
            <a:prstGeom prst="roundRect">
              <a:avLst>
                <a:gd name="adj" fmla="val 10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706" y="2438400"/>
              <a:ext cx="11763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examination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001000" y="2238375"/>
              <a:ext cx="1619250" cy="571500"/>
            </a:xfrm>
            <a:prstGeom prst="roundRect">
              <a:avLst>
                <a:gd name="adj" fmla="val 10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72939" y="2438400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laboratory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810750" y="2238375"/>
              <a:ext cx="1619250" cy="571500"/>
            </a:xfrm>
            <a:prstGeom prst="roundRect">
              <a:avLst>
                <a:gd name="adj" fmla="val 10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628346" y="2438400"/>
              <a:ext cx="19840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treatment/payment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62000" y="3143250"/>
            <a:ext cx="5143500" cy="1428750"/>
            <a:chOff x="762000" y="3143250"/>
            <a:chExt cx="5143500" cy="1428750"/>
          </a:xfrm>
        </p:grpSpPr>
        <p:sp>
          <p:nvSpPr>
            <p:cNvPr id="32" name="Rectangle 32"/>
            <p:cNvSpPr/>
            <p:nvPr/>
          </p:nvSpPr>
          <p:spPr>
            <a:xfrm>
              <a:off x="762000" y="3143250"/>
              <a:ext cx="5143500" cy="1428750"/>
            </a:xfrm>
            <a:prstGeom prst="roundRect">
              <a:avLst>
                <a:gd name="adj" fmla="val 5333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2594" y="3266122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核心关联关系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4880" y="3648075"/>
              <a:ext cx="44879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registration → patient / doctor / department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4880" y="3933825"/>
              <a:ext cx="4831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medical_record → registration / patient / doctor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4880" y="4219575"/>
              <a:ext cx="45687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prescription → registration / patient / doctor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286500" y="3143250"/>
            <a:ext cx="5143500" cy="1428750"/>
            <a:chOff x="6286500" y="3143250"/>
            <a:chExt cx="5143500" cy="1428750"/>
          </a:xfrm>
        </p:grpSpPr>
        <p:sp>
          <p:nvSpPr>
            <p:cNvPr id="38" name="Rectangle 38"/>
            <p:cNvSpPr/>
            <p:nvPr/>
          </p:nvSpPr>
          <p:spPr>
            <a:xfrm>
              <a:off x="6286500" y="3143250"/>
              <a:ext cx="5143500" cy="1428750"/>
            </a:xfrm>
            <a:prstGeom prst="roundRect">
              <a:avLst>
                <a:gd name="adj" fmla="val 5333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67094" y="3266122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设计要点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69380" y="3648075"/>
              <a:ext cx="36530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FOREIGN KEY 外键约束保证引用完整性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69380" y="3933825"/>
              <a:ext cx="41951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status 字段实现逻辑删除（药品/科室/医生）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69380" y="4219575"/>
              <a:ext cx="45889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chief_complaint + present_illness 存储患者自述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4191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6498" y="345758"/>
            <a:ext cx="455134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管理员角色 — 系统管理</a:t>
            </a:r>
          </a:p>
        </p:txBody>
      </p:sp>
      <p:sp>
        <p:nvSpPr>
          <p:cNvPr id="5" name="Line 5"/>
          <p:cNvSpPr/>
          <p:nvPr/>
        </p:nvSpPr>
        <p:spPr>
          <a:xfrm>
            <a:off x="952500" y="8763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44118" y="1012508"/>
            <a:ext cx="445922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管理员拥有全部管理权限，负责基础数据维护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62000" y="1524000"/>
            <a:ext cx="10572750" cy="1905000"/>
            <a:chOff x="762000" y="1524000"/>
            <a:chExt cx="10572750" cy="1905000"/>
          </a:xfrm>
        </p:grpSpPr>
        <p:sp>
          <p:nvSpPr>
            <p:cNvPr id="7" name="Rectangle 7"/>
            <p:cNvSpPr/>
            <p:nvPr/>
          </p:nvSpPr>
          <p:spPr>
            <a:xfrm>
              <a:off x="762000" y="1524000"/>
              <a:ext cx="3333750" cy="857250"/>
            </a:xfrm>
            <a:prstGeom prst="roundRect">
              <a:avLst>
                <a:gd name="adj" fmla="val 6667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8606" y="1710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挂号管理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0892" y="2045018"/>
              <a:ext cx="1425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CRUD + 状态流转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381500" y="1524000"/>
              <a:ext cx="3333750" cy="857250"/>
            </a:xfrm>
            <a:prstGeom prst="roundRect">
              <a:avLst>
                <a:gd name="adj" fmla="val 6667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658106" y="1710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患者管理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60392" y="204501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增删改查+分页+身份证查询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01000" y="1524000"/>
              <a:ext cx="3333750" cy="857250"/>
            </a:xfrm>
            <a:prstGeom prst="roundRect">
              <a:avLst>
                <a:gd name="adj" fmla="val 6667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77606" y="1710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医生管理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79892" y="2045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删除前检查挂号记录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2571750"/>
              <a:ext cx="3333750" cy="857250"/>
            </a:xfrm>
            <a:prstGeom prst="roundRect">
              <a:avLst>
                <a:gd name="adj" fmla="val 6667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38606" y="27584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药品管理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0892" y="309276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启停状态 + 库存管理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381500" y="2571750"/>
              <a:ext cx="3333750" cy="857250"/>
            </a:xfrm>
            <a:prstGeom prst="roundRect">
              <a:avLst>
                <a:gd name="adj" fmla="val 6667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58106" y="27584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科室管理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60392" y="3092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只读列表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01000" y="2571750"/>
              <a:ext cx="3333750" cy="857250"/>
            </a:xfrm>
            <a:prstGeom prst="roundRect">
              <a:avLst>
                <a:gd name="adj" fmla="val 6667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77606" y="27584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收费管理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79892" y="3092768"/>
              <a:ext cx="12040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新增+确认支付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762000" y="4000500"/>
            <a:ext cx="10668000" cy="1143000"/>
          </a:xfrm>
          <a:prstGeom prst="roundRect">
            <a:avLst>
              <a:gd name="adj" fmla="val 6667"/>
            </a:avLst>
          </a:prstGeom>
          <a:solidFill>
            <a:srgbClr val="F0F4F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037844" y="4218622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关键设计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9368" y="4584382"/>
            <a:ext cx="95342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药品停用 = UPDATE status=0（逻辑删除）· 医生删除前 countRegistrationsByDoctorId 检查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39368" y="4870132"/>
            <a:ext cx="634727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挂号费用后端设置 普通 ¥25 / 专家 ¥50 · 首页统计全量数据展示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5429250"/>
            <a:ext cx="5143500" cy="1143000"/>
          </a:xfrm>
          <a:prstGeom prst="roundRect">
            <a:avLst>
              <a:gd name="adj" fmla="val 3333"/>
            </a:avLst>
          </a:prstGeom>
          <a:solidFill>
            <a:srgbClr val="FAFBFC"/>
          </a:solidFill>
          <a:ln w="19050">
            <a:solidFill>
              <a:srgbClr val="E2E8F0"/>
            </a:solidFill>
            <a:custDash>
              <a:ds d="300000" sp="200000"/>
            </a:custDash>
          </a:ln>
        </p:spPr>
      </p:sp>
      <p:sp>
        <p:nvSpPr>
          <p:cNvPr id="31" name="TextBox 31"/>
          <p:cNvSpPr txBox="1"/>
          <p:nvPr/>
        </p:nvSpPr>
        <p:spPr>
          <a:xfrm>
            <a:off x="1277807" y="5902642"/>
            <a:ext cx="411188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此处插入：管理员管理页面截图（药品/患者管理）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4191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6498" y="345758"/>
            <a:ext cx="881937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核心代码 — @Transactional 保证数据一致性</a:t>
            </a:r>
          </a:p>
        </p:txBody>
      </p:sp>
      <p:sp>
        <p:nvSpPr>
          <p:cNvPr id="5" name="Line 5"/>
          <p:cNvSpPr/>
          <p:nvPr/>
        </p:nvSpPr>
        <p:spPr>
          <a:xfrm>
            <a:off x="952500" y="87630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43737" y="1147286"/>
            <a:ext cx="1069002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Service 层添加 @Transactional 注解，确保数据库操作的事务原子性：要么全部成功，要么全部回滚。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714500"/>
            <a:ext cx="5238750" cy="228600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45261" y="1846421"/>
            <a:ext cx="81702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06B6D4"/>
                </a:solidFill>
                <a:latin typeface="Consolas"/>
                <a:ea typeface="Consolas"/>
                <a:cs typeface="Consolas"/>
              </a:rPr>
              <a:t>@Service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5261" y="2132171"/>
            <a:ext cx="140169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C9A84C"/>
                </a:solidFill>
                <a:latin typeface="Consolas"/>
                <a:ea typeface="Consolas"/>
                <a:cs typeface="Consolas"/>
              </a:rPr>
              <a:t>@Transactional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5261" y="2417921"/>
            <a:ext cx="251706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@RequiredArgsConstructor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5261" y="2703671"/>
            <a:ext cx="355220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public class RegistrationServiceImpl {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1011" y="2989421"/>
            <a:ext cx="258504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// 所有方法自动获得事务支持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1011" y="3275171"/>
            <a:ext cx="307127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public void add(Registration r) {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16761" y="3560921"/>
            <a:ext cx="297540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registrationMapper.insert(r);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1011" y="3846671"/>
            <a:ext cx="11998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381750" y="1714500"/>
            <a:ext cx="5048250" cy="2356675"/>
            <a:chOff x="6381750" y="1714500"/>
            <a:chExt cx="5048250" cy="2356675"/>
          </a:xfrm>
        </p:grpSpPr>
        <p:sp>
          <p:nvSpPr>
            <p:cNvPr id="16" name="Rectangle 16"/>
            <p:cNvSpPr/>
            <p:nvPr/>
          </p:nvSpPr>
          <p:spPr>
            <a:xfrm>
              <a:off x="6381750" y="1714500"/>
              <a:ext cx="5048250" cy="2286000"/>
            </a:xfrm>
            <a:prstGeom prst="roundRect">
              <a:avLst>
                <a:gd name="adj" fmla="val 3333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63868" y="1917382"/>
              <a:ext cx="22420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@Transactional 作用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64630" y="2314575"/>
              <a:ext cx="33874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新号挂号时插入 registration 记录，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64630" y="260032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如果后续操作失败（如处方明细插入失败），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64630" y="2886075"/>
              <a:ext cx="39944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已执行的 INSERT 自动回滚，不留脏数据。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63868" y="32508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涉及文件：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65392" y="3569018"/>
              <a:ext cx="25923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RegistrationServiceImpl.java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65392" y="3807142"/>
              <a:ext cx="25923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PrescriptionServiceImpl.java</a:t>
              </a:r>
            </a:p>
          </p:txBody>
        </p:sp>
      </p:grpSp>
      <p:sp>
        <p:nvSpPr>
          <p:cNvPr id="25" name="Rectangle 25"/>
          <p:cNvSpPr/>
          <p:nvPr/>
        </p:nvSpPr>
        <p:spPr>
          <a:xfrm>
            <a:off x="762000" y="4476750"/>
            <a:ext cx="10668000" cy="1714500"/>
          </a:xfrm>
          <a:prstGeom prst="roundRect">
            <a:avLst>
              <a:gd name="adj" fmla="val 4444"/>
            </a:avLst>
          </a:prstGeom>
          <a:solidFill>
            <a:srgbClr val="F0F4FF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38606" y="4758690"/>
            <a:ext cx="32846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修复缺陷 BUG-003（一般）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9368" y="5155882"/>
            <a:ext cx="967692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初始代码中 RegistrationServiceImpl 和 PrescriptionServiceImpl 缺少 @Transactional 注解。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9368" y="5536882"/>
            <a:ext cx="912380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在并发场景下，若新增挂号或保存处方过程中发生异常，已执行的数据库操作不会自动回滚。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39368" y="5917882"/>
            <a:ext cx="783507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修复：在两个 Service 实现类上添加 @Transactional 注解，确保事务原子性。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4191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6498" y="345758"/>
            <a:ext cx="633237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核心代码 — 费用后端计算防篡改</a:t>
            </a:r>
          </a:p>
        </p:txBody>
      </p:sp>
      <p:sp>
        <p:nvSpPr>
          <p:cNvPr id="5" name="Line 5"/>
          <p:cNvSpPr/>
          <p:nvPr/>
        </p:nvSpPr>
        <p:spPr>
          <a:xfrm>
            <a:off x="952500" y="87630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44118" y="1060132"/>
            <a:ext cx="823531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患者端自助挂号时，费用在后端计算而非使用前端传入的值，防止客户端篡改价格。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619250"/>
            <a:ext cx="10668000" cy="2381250"/>
          </a:xfrm>
          <a:prstGeom prst="roundRect">
            <a:avLst>
              <a:gd name="adj" fmla="val 24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45642" y="1759268"/>
            <a:ext cx="20736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@PostMapping("/self")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5642" y="2045018"/>
            <a:ext cx="595598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public Result&lt;Void&gt; selfRegistration(@RequestBody Registration r,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1392" y="2330768"/>
            <a:ext cx="27948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HttpServletRequest request) {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17142" y="2616518"/>
            <a:ext cx="366217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// 从 JWT 中获取患者 ID（防止冒充他人）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17142" y="2902268"/>
            <a:ext cx="51823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Long patientId = (Long) request.getAttribute("userId");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17142" y="3188018"/>
            <a:ext cx="24494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r.setPatientId(patientId);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17142" y="3473768"/>
            <a:ext cx="408462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C9A84C"/>
                </a:solidFill>
                <a:latin typeface="Consolas"/>
                <a:ea typeface="Microsoft YaHei"/>
                <a:cs typeface="Consolas"/>
              </a:rPr>
              <a:t>// 根据挂号类型后端计算费用，忽略客户端传入值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17142" y="3759518"/>
            <a:ext cx="42195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2E8F0"/>
                </a:solidFill>
                <a:latin typeface="Consolas"/>
                <a:ea typeface="Microsoft YaHei"/>
                <a:cs typeface="Consolas"/>
              </a:rPr>
              <a:t>r.setRegFee("专家".equals(r.getRegType()) 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02892" y="4045268"/>
            <a:ext cx="4844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new BigDecimal("50.00") : new BigDecimal("25.00"));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62000" y="4381500"/>
            <a:ext cx="5143500" cy="1143000"/>
            <a:chOff x="762000" y="4381500"/>
            <a:chExt cx="5143500" cy="1143000"/>
          </a:xfrm>
        </p:grpSpPr>
        <p:sp>
          <p:nvSpPr>
            <p:cNvPr id="17" name="Rectangle 17"/>
            <p:cNvSpPr/>
            <p:nvPr/>
          </p:nvSpPr>
          <p:spPr>
            <a:xfrm>
              <a:off x="762000" y="4381500"/>
              <a:ext cx="5143500" cy="1143000"/>
            </a:xfrm>
            <a:prstGeom prst="roundRect">
              <a:avLst>
                <a:gd name="adj" fmla="val 6667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3356" y="4520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安全设计要点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4880" y="4886325"/>
              <a:ext cx="31602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费用在后端根据 regType 重新计算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5172075"/>
              <a:ext cx="38343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患者 ID 从 JWT 中提取，不依赖前端传入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86500" y="4381500"/>
            <a:ext cx="5143500" cy="1143000"/>
            <a:chOff x="6286500" y="4381500"/>
            <a:chExt cx="5143500" cy="1143000"/>
          </a:xfrm>
        </p:grpSpPr>
        <p:sp>
          <p:nvSpPr>
            <p:cNvPr id="22" name="Rectangle 22"/>
            <p:cNvSpPr/>
            <p:nvPr/>
          </p:nvSpPr>
          <p:spPr>
            <a:xfrm>
              <a:off x="6286500" y="4381500"/>
              <a:ext cx="5143500" cy="1143000"/>
            </a:xfrm>
            <a:prstGeom prst="roundRect">
              <a:avLst>
                <a:gd name="adj" fmla="val 6667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67856" y="4520565"/>
              <a:ext cx="32846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修复缺陷 BUG-002（严重）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9380" y="488632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原设计：费用在前端计算，可被篡改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9380" y="5172075"/>
              <a:ext cx="49414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修复：后端根据 regType 重新计算 普通=25 / 专家=50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4191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6498" y="345758"/>
            <a:ext cx="455134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医生角色 — 接诊工作台</a:t>
            </a:r>
          </a:p>
        </p:txBody>
      </p:sp>
      <p:sp>
        <p:nvSpPr>
          <p:cNvPr id="5" name="Line 5"/>
          <p:cNvSpPr/>
          <p:nvPr/>
        </p:nvSpPr>
        <p:spPr>
          <a:xfrm>
            <a:off x="952500" y="8763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762000" y="1428750"/>
            <a:ext cx="8763000" cy="762000"/>
            <a:chOff x="762000" y="1428750"/>
            <a:chExt cx="8763000" cy="762000"/>
          </a:xfrm>
        </p:grpSpPr>
        <p:sp>
          <p:nvSpPr>
            <p:cNvPr id="6" name="Rectangle 6"/>
            <p:cNvSpPr/>
            <p:nvPr/>
          </p:nvSpPr>
          <p:spPr>
            <a:xfrm>
              <a:off x="762000" y="1428750"/>
              <a:ext cx="1905000" cy="762000"/>
            </a:xfrm>
            <a:prstGeom prst="roundRect">
              <a:avLst>
                <a:gd name="adj" fmla="val 75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61872" y="17078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患者列表</a:t>
              </a:r>
            </a:p>
          </p:txBody>
        </p:sp>
        <p:sp>
          <p:nvSpPr>
            <p:cNvPr id="8" name="Polygon 8"/>
            <p:cNvSpPr/>
            <p:nvPr/>
          </p:nvSpPr>
          <p:spPr>
            <a:xfrm>
              <a:off x="2762250" y="1666875"/>
              <a:ext cx="190500" cy="285750"/>
            </a:xfrm>
            <a:custGeom>
              <a:avLst/>
              <a:gdLst/>
              <a:ahLst/>
              <a:cxnLst/>
              <a:rect l="l" t="t" r="r" b="b"/>
              <a:pathLst>
                <a:path w="190500" h="285750">
                  <a:moveTo>
                    <a:pt x="0" y="0"/>
                  </a:moveTo>
                  <a:lnTo>
                    <a:pt x="190500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3048000" y="1428750"/>
              <a:ext cx="1905000" cy="762000"/>
            </a:xfrm>
            <a:prstGeom prst="roundRect">
              <a:avLst>
                <a:gd name="adj" fmla="val 75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47872" y="17078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点击接诊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5048250" y="1666875"/>
              <a:ext cx="190500" cy="285750"/>
            </a:xfrm>
            <a:custGeom>
              <a:avLst/>
              <a:gdLst/>
              <a:ahLst/>
              <a:cxnLst/>
              <a:rect l="l" t="t" r="r" b="b"/>
              <a:pathLst>
                <a:path w="190500" h="285750">
                  <a:moveTo>
                    <a:pt x="0" y="0"/>
                  </a:moveTo>
                  <a:lnTo>
                    <a:pt x="190500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334000" y="1428750"/>
              <a:ext cx="1905000" cy="762000"/>
            </a:xfrm>
            <a:prstGeom prst="roundRect">
              <a:avLst>
                <a:gd name="adj" fmla="val 75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33872" y="17078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填写病历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7334250" y="1666875"/>
              <a:ext cx="190500" cy="285750"/>
            </a:xfrm>
            <a:custGeom>
              <a:avLst/>
              <a:gdLst/>
              <a:ahLst/>
              <a:cxnLst/>
              <a:rect l="l" t="t" r="r" b="b"/>
              <a:pathLst>
                <a:path w="190500" h="285750">
                  <a:moveTo>
                    <a:pt x="0" y="0"/>
                  </a:moveTo>
                  <a:lnTo>
                    <a:pt x="190500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20000" y="1428750"/>
              <a:ext cx="1905000" cy="762000"/>
            </a:xfrm>
            <a:prstGeom prst="roundRect">
              <a:avLst>
                <a:gd name="adj" fmla="val 75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47727" y="1707832"/>
              <a:ext cx="12495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开处方/完成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2762250"/>
            <a:ext cx="3333750" cy="1941195"/>
            <a:chOff x="762000" y="2762250"/>
            <a:chExt cx="3333750" cy="1941195"/>
          </a:xfrm>
        </p:grpSpPr>
        <p:sp>
          <p:nvSpPr>
            <p:cNvPr id="18" name="Rectangle 18"/>
            <p:cNvSpPr/>
            <p:nvPr/>
          </p:nvSpPr>
          <p:spPr>
            <a:xfrm>
              <a:off x="762000" y="2762250"/>
              <a:ext cx="3333750" cy="1905000"/>
            </a:xfrm>
            <a:prstGeom prst="roundRect">
              <a:avLst>
                <a:gd name="adj" fmla="val 4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3356" y="29013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接诊功能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267075"/>
              <a:ext cx="2145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查看患者信息+自述症状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880" y="3552825"/>
              <a:ext cx="26605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填写病历（主诉/诊断/治疗）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83857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搜索药品 → 添加明细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41243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自动计算处方总金额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441007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完成诊疗 → 状态已诊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381500" y="2762250"/>
            <a:ext cx="3333750" cy="1905000"/>
            <a:chOff x="4381500" y="2762250"/>
            <a:chExt cx="3333750" cy="1905000"/>
          </a:xfrm>
        </p:grpSpPr>
        <p:sp>
          <p:nvSpPr>
            <p:cNvPr id="26" name="Rectangle 26"/>
            <p:cNvSpPr/>
            <p:nvPr/>
          </p:nvSpPr>
          <p:spPr>
            <a:xfrm>
              <a:off x="4381500" y="2762250"/>
              <a:ext cx="3333750" cy="1905000"/>
            </a:xfrm>
            <a:prstGeom prst="roundRect">
              <a:avLst>
                <a:gd name="adj" fmla="val 4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62856" y="29013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数据过滤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64380" y="3267075"/>
              <a:ext cx="21808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JWT 自动识别医生身份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64380" y="3552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只显示本人患者的挂号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64380" y="3838575"/>
              <a:ext cx="15196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已诊 / 待诊 筛选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64380" y="41243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已诊患者可查看记录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001000" y="2762250"/>
            <a:ext cx="3333750" cy="1928051"/>
            <a:chOff x="8001000" y="2762250"/>
            <a:chExt cx="3333750" cy="1928051"/>
          </a:xfrm>
        </p:grpSpPr>
        <p:sp>
          <p:nvSpPr>
            <p:cNvPr id="33" name="Rectangle 33"/>
            <p:cNvSpPr/>
            <p:nvPr/>
          </p:nvSpPr>
          <p:spPr>
            <a:xfrm>
              <a:off x="8001000" y="2762250"/>
              <a:ext cx="3333750" cy="1905000"/>
            </a:xfrm>
            <a:prstGeom prst="roundRect">
              <a:avLst>
                <a:gd name="adj" fmla="val 4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182356" y="29013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涉及接口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84642" y="3283268"/>
              <a:ext cx="1902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GET registration/list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84642" y="3569018"/>
              <a:ext cx="18737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POST medical-record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84642" y="3854768"/>
              <a:ext cx="16356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POST prescription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84642" y="4140518"/>
              <a:ext cx="22445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POST prescription/detail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84642" y="4426268"/>
              <a:ext cx="21938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PUT registration/status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4191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6498" y="345758"/>
            <a:ext cx="633237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核心代码 — 处方创建与明细添加</a:t>
            </a:r>
          </a:p>
        </p:txBody>
      </p:sp>
      <p:sp>
        <p:nvSpPr>
          <p:cNvPr id="5" name="Line 5"/>
          <p:cNvSpPr/>
          <p:nvPr/>
        </p:nvSpPr>
        <p:spPr>
          <a:xfrm>
            <a:off x="952500" y="87630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762000" y="1238250"/>
            <a:ext cx="10668000" cy="2095500"/>
          </a:xfrm>
          <a:prstGeom prst="roundRect">
            <a:avLst>
              <a:gd name="adj" fmla="val 2727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46023" y="1386364"/>
            <a:ext cx="43964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// 1. 创建处方 → 返回处方ID (PrescriptionController)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6023" y="1672114"/>
            <a:ext cx="590019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@PostMapping public Result&lt;Long&gt; add(@RequestBody Prescription p) {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1773" y="1957864"/>
            <a:ext cx="243904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prescriptionService.add(p);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1773" y="2243614"/>
            <a:ext cx="467745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C9A84C"/>
                </a:solidFill>
                <a:latin typeface="Consolas"/>
                <a:ea typeface="Microsoft YaHei"/>
                <a:cs typeface="Consolas"/>
              </a:rPr>
              <a:t>return Result.success(p.getId()); // 返回ID供明细使用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6023" y="2529364"/>
            <a:ext cx="10735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6023" y="2910364"/>
            <a:ext cx="501863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// 2. 逐条添加明细 → 自动计算金额 (PrescriptionServiceImpl)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6023" y="3196114"/>
            <a:ext cx="371971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public void addDetail(PrescriptionDetail d) {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62000" y="3619500"/>
            <a:ext cx="5143500" cy="1322070"/>
            <a:chOff x="762000" y="3619500"/>
            <a:chExt cx="5143500" cy="1322070"/>
          </a:xfrm>
        </p:grpSpPr>
        <p:sp>
          <p:nvSpPr>
            <p:cNvPr id="14" name="Rectangle 14"/>
            <p:cNvSpPr/>
            <p:nvPr/>
          </p:nvSpPr>
          <p:spPr>
            <a:xfrm>
              <a:off x="762000" y="3619500"/>
              <a:ext cx="5143500" cy="1238250"/>
            </a:xfrm>
            <a:prstGeom prst="roundRect">
              <a:avLst>
                <a:gd name="adj" fmla="val 6154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3356" y="37585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流程分析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4124325"/>
              <a:ext cx="4435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1. 前端调用新增处方接口 → 获得 prescriptionId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4880" y="4410075"/>
              <a:ext cx="40600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2. 用 prescriptionId 逐条调用处方明细接口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4648200"/>
              <a:ext cx="38107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3. 明细插入后自动更新主表 totalAmount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0" y="3619500"/>
            <a:ext cx="5143500" cy="1322070"/>
            <a:chOff x="6286500" y="3619500"/>
            <a:chExt cx="5143500" cy="1322070"/>
          </a:xfrm>
        </p:grpSpPr>
        <p:sp>
          <p:nvSpPr>
            <p:cNvPr id="20" name="Rectangle 20"/>
            <p:cNvSpPr/>
            <p:nvPr/>
          </p:nvSpPr>
          <p:spPr>
            <a:xfrm>
              <a:off x="6286500" y="3619500"/>
              <a:ext cx="5143500" cy="1238250"/>
            </a:xfrm>
            <a:prstGeom prst="roundRect">
              <a:avLst>
                <a:gd name="adj" fmla="val 6154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67856" y="3758565"/>
              <a:ext cx="27469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缺陷 BUG-004（轻微）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9380" y="4124325"/>
              <a:ext cx="35656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RegistrationMapper.insert 初始缺少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9380" y="4410075"/>
              <a:ext cx="3781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chief_complaint + present_illness 字段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9380" y="464820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导致患者自述症状无法保存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4191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6498" y="345758"/>
            <a:ext cx="5441860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医生接诊工作台 — 交互展示</a:t>
            </a:r>
          </a:p>
        </p:txBody>
      </p:sp>
      <p:sp>
        <p:nvSpPr>
          <p:cNvPr id="5" name="Line 5"/>
          <p:cNvSpPr/>
          <p:nvPr/>
        </p:nvSpPr>
        <p:spPr>
          <a:xfrm>
            <a:off x="952500" y="87630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333500" y="1333500"/>
            <a:ext cx="9525000" cy="4572000"/>
          </a:xfrm>
          <a:prstGeom prst="roundRect">
            <a:avLst>
              <a:gd name="adj" fmla="val 1667"/>
            </a:avLst>
          </a:prstGeom>
          <a:solidFill>
            <a:srgbClr val="FAFBFC"/>
          </a:solidFill>
          <a:ln w="19050">
            <a:solidFill>
              <a:srgbClr val="E2E8F0"/>
            </a:solidFill>
            <a:custDash>
              <a:ds d="300000" sp="200000"/>
            </a:custDash>
          </a:ln>
        </p:spPr>
      </p:sp>
      <p:sp>
        <p:nvSpPr>
          <p:cNvPr id="7" name="TextBox 7"/>
          <p:cNvSpPr txBox="1"/>
          <p:nvPr/>
        </p:nvSpPr>
        <p:spPr>
          <a:xfrm>
            <a:off x="4248531" y="3313748"/>
            <a:ext cx="369493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此处插入：医生接诊工作台截图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37826" y="3743325"/>
            <a:ext cx="431634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患者列表 + 接诊对话框（病历填写 + 处方开药）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17259" y="5822632"/>
            <a:ext cx="835748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交互流程：点击"接诊"→ 查看患者自述 → 填写病历 → 搜索药品 → 添加明细 → 完成诊疗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4191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6498" y="345758"/>
            <a:ext cx="410609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患者角色 — 自助挂号</a:t>
            </a:r>
          </a:p>
        </p:txBody>
      </p:sp>
      <p:sp>
        <p:nvSpPr>
          <p:cNvPr id="5" name="Line 5"/>
          <p:cNvSpPr/>
          <p:nvPr/>
        </p:nvSpPr>
        <p:spPr>
          <a:xfrm>
            <a:off x="952500" y="87630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44118" y="1060132"/>
            <a:ext cx="531439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5 步向导流程，患者自行完成挂号，减少窗口排队压力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62000" y="1714500"/>
            <a:ext cx="11049000" cy="762000"/>
            <a:chOff x="762000" y="1714500"/>
            <a:chExt cx="11049000" cy="762000"/>
          </a:xfrm>
        </p:grpSpPr>
        <p:sp>
          <p:nvSpPr>
            <p:cNvPr id="7" name="Rectangle 7"/>
            <p:cNvSpPr/>
            <p:nvPr/>
          </p:nvSpPr>
          <p:spPr>
            <a:xfrm>
              <a:off x="762000" y="1714500"/>
              <a:ext cx="1905000" cy="762000"/>
            </a:xfrm>
            <a:prstGeom prst="roundRect">
              <a:avLst>
                <a:gd name="adj" fmla="val 75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72933" y="19935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选科室</a:t>
              </a:r>
            </a:p>
          </p:txBody>
        </p:sp>
        <p:sp>
          <p:nvSpPr>
            <p:cNvPr id="9" name="Polygon 9"/>
            <p:cNvSpPr/>
            <p:nvPr/>
          </p:nvSpPr>
          <p:spPr>
            <a:xfrm>
              <a:off x="2762250" y="1952625"/>
              <a:ext cx="190500" cy="285750"/>
            </a:xfrm>
            <a:custGeom>
              <a:avLst/>
              <a:gdLst/>
              <a:ahLst/>
              <a:cxnLst/>
              <a:rect l="l" t="t" r="r" b="b"/>
              <a:pathLst>
                <a:path w="190500" h="285750">
                  <a:moveTo>
                    <a:pt x="0" y="0"/>
                  </a:moveTo>
                  <a:lnTo>
                    <a:pt x="190500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048000" y="1714500"/>
              <a:ext cx="1905000" cy="762000"/>
            </a:xfrm>
            <a:prstGeom prst="roundRect">
              <a:avLst>
                <a:gd name="adj" fmla="val 75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658934" y="19935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选医生</a:t>
              </a:r>
            </a:p>
          </p:txBody>
        </p:sp>
        <p:sp>
          <p:nvSpPr>
            <p:cNvPr id="12" name="Polygon 12"/>
            <p:cNvSpPr/>
            <p:nvPr/>
          </p:nvSpPr>
          <p:spPr>
            <a:xfrm>
              <a:off x="5048250" y="1952625"/>
              <a:ext cx="190500" cy="285750"/>
            </a:xfrm>
            <a:custGeom>
              <a:avLst/>
              <a:gdLst/>
              <a:ahLst/>
              <a:cxnLst/>
              <a:rect l="l" t="t" r="r" b="b"/>
              <a:pathLst>
                <a:path w="190500" h="285750">
                  <a:moveTo>
                    <a:pt x="0" y="0"/>
                  </a:moveTo>
                  <a:lnTo>
                    <a:pt x="190500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0" y="1714500"/>
              <a:ext cx="1905000" cy="762000"/>
            </a:xfrm>
            <a:prstGeom prst="roundRect">
              <a:avLst>
                <a:gd name="adj" fmla="val 75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44934" y="19935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选类型</a:t>
              </a:r>
            </a:p>
          </p:txBody>
        </p:sp>
        <p:sp>
          <p:nvSpPr>
            <p:cNvPr id="15" name="Polygon 15"/>
            <p:cNvSpPr/>
            <p:nvPr/>
          </p:nvSpPr>
          <p:spPr>
            <a:xfrm>
              <a:off x="7334250" y="1952625"/>
              <a:ext cx="190500" cy="285750"/>
            </a:xfrm>
            <a:custGeom>
              <a:avLst/>
              <a:gdLst/>
              <a:ahLst/>
              <a:cxnLst/>
              <a:rect l="l" t="t" r="r" b="b"/>
              <a:pathLst>
                <a:path w="190500" h="285750">
                  <a:moveTo>
                    <a:pt x="0" y="0"/>
                  </a:moveTo>
                  <a:lnTo>
                    <a:pt x="190500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20000" y="1714500"/>
              <a:ext cx="1905000" cy="762000"/>
            </a:xfrm>
            <a:prstGeom prst="roundRect">
              <a:avLst>
                <a:gd name="adj" fmla="val 75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30934" y="19935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写症状</a:t>
              </a:r>
            </a:p>
          </p:txBody>
        </p:sp>
        <p:sp>
          <p:nvSpPr>
            <p:cNvPr id="18" name="Polygon 18"/>
            <p:cNvSpPr/>
            <p:nvPr/>
          </p:nvSpPr>
          <p:spPr>
            <a:xfrm>
              <a:off x="9620250" y="1952625"/>
              <a:ext cx="190500" cy="285750"/>
            </a:xfrm>
            <a:custGeom>
              <a:avLst/>
              <a:gdLst/>
              <a:ahLst/>
              <a:cxnLst/>
              <a:rect l="l" t="t" r="r" b="b"/>
              <a:pathLst>
                <a:path w="190500" h="285750">
                  <a:moveTo>
                    <a:pt x="0" y="0"/>
                  </a:moveTo>
                  <a:lnTo>
                    <a:pt x="190500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906000" y="1714500"/>
              <a:ext cx="1905000" cy="762000"/>
            </a:xfrm>
            <a:prstGeom prst="roundRect">
              <a:avLst>
                <a:gd name="adj" fmla="val 7500"/>
              </a:avLst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405872" y="1993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确认提交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62000" y="2952750"/>
            <a:ext cx="10858500" cy="1524000"/>
            <a:chOff x="762000" y="2952750"/>
            <a:chExt cx="10858500" cy="1524000"/>
          </a:xfrm>
        </p:grpSpPr>
        <p:sp>
          <p:nvSpPr>
            <p:cNvPr id="22" name="Rectangle 22"/>
            <p:cNvSpPr/>
            <p:nvPr/>
          </p:nvSpPr>
          <p:spPr>
            <a:xfrm>
              <a:off x="762000" y="2952750"/>
              <a:ext cx="3429000" cy="1524000"/>
            </a:xfrm>
            <a:prstGeom prst="roundRect">
              <a:avLst>
                <a:gd name="adj" fmla="val 5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118" y="31080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安全设计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4575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费用后端计算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880" y="3743325"/>
              <a:ext cx="1658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患者ID从JWT提取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4029075"/>
              <a:ext cx="21859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普通号25元/专家号50元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476750" y="2952750"/>
              <a:ext cx="3429000" cy="1524000"/>
            </a:xfrm>
            <a:prstGeom prst="roundRect">
              <a:avLst>
                <a:gd name="adj" fmla="val 5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658868" y="31080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数据保存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9630" y="34575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chief_complaint 主诉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9630" y="3743325"/>
              <a:ext cx="2196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present_illness 现病史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59630" y="40290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供医生接诊时查看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191500" y="2952750"/>
              <a:ext cx="3429000" cy="1524000"/>
            </a:xfrm>
            <a:prstGeom prst="roundRect">
              <a:avLst>
                <a:gd name="adj" fmla="val 5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373618" y="31080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涉及接口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75142" y="3473768"/>
              <a:ext cx="20905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POST registration/self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75142" y="3759518"/>
              <a:ext cx="19435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GET doctor/dept/{id}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75142" y="4045268"/>
              <a:ext cx="18308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GET department/list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4191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6498" y="345758"/>
            <a:ext cx="410609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患者角色 — 门户功能</a:t>
            </a:r>
          </a:p>
        </p:txBody>
      </p:sp>
      <p:sp>
        <p:nvSpPr>
          <p:cNvPr id="5" name="Line 5"/>
          <p:cNvSpPr/>
          <p:nvPr/>
        </p:nvSpPr>
        <p:spPr>
          <a:xfrm>
            <a:off x="952500" y="87630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44118" y="1060132"/>
            <a:ext cx="458139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患者凭身份证号+密码登录，查看个人就诊信息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62000" y="1714500"/>
            <a:ext cx="10763250" cy="1714500"/>
            <a:chOff x="762000" y="1714500"/>
            <a:chExt cx="10763250" cy="1714500"/>
          </a:xfrm>
        </p:grpSpPr>
        <p:sp>
          <p:nvSpPr>
            <p:cNvPr id="7" name="Rectangle 7"/>
            <p:cNvSpPr/>
            <p:nvPr/>
          </p:nvSpPr>
          <p:spPr>
            <a:xfrm>
              <a:off x="762000" y="1714500"/>
              <a:ext cx="2476500" cy="1714500"/>
            </a:xfrm>
            <a:prstGeom prst="roundRect">
              <a:avLst>
                <a:gd name="adj" fmla="val 4444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5731" y="19011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首页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7255" y="23145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个人信息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7255" y="26003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就诊概况统计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7255" y="28860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快捷入口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524250" y="1714500"/>
              <a:ext cx="2476500" cy="1714500"/>
            </a:xfrm>
            <a:prstGeom prst="roundRect">
              <a:avLst>
                <a:gd name="adj" fmla="val 4444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657981" y="1901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自助挂号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59505" y="2314575"/>
              <a:ext cx="1135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5步向导流程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59505" y="2600325"/>
              <a:ext cx="14489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选科→医生→类型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59505" y="2886075"/>
              <a:ext cx="1337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症状描述→确认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286500" y="1714500"/>
              <a:ext cx="2476500" cy="1714500"/>
            </a:xfrm>
            <a:prstGeom prst="roundRect">
              <a:avLst>
                <a:gd name="adj" fmla="val 4444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20231" y="1901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我的挂号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21755" y="23145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挂号记录列表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21755" y="260032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状态(诊断中/已完成)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21755" y="28860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费用信息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048750" y="1714500"/>
              <a:ext cx="2476500" cy="1714500"/>
            </a:xfrm>
            <a:prstGeom prst="roundRect">
              <a:avLst>
                <a:gd name="adj" fmla="val 4444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82481" y="1901190"/>
              <a:ext cx="11759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病历/处方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84005" y="23145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查看个人病历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84005" y="26003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处方及明细查询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84005" y="28860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药品用法用量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762000" y="3905250"/>
            <a:ext cx="10668000" cy="1428750"/>
          </a:xfrm>
          <a:prstGeom prst="roundRect">
            <a:avLst>
              <a:gd name="adj" fmla="val 5333"/>
            </a:avLst>
          </a:prstGeom>
          <a:solidFill>
            <a:srgbClr val="F0F4F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37844" y="4123372"/>
            <a:ext cx="181091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JWT 身份识别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39368" y="4536758"/>
            <a:ext cx="1027360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患者登录 → JWT Token(role=patient, userId=patient.id) → 导航守卫限制只能访问 /patient-portal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9368" y="4870132"/>
            <a:ext cx="78534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后端从 request Attribute 中提取 userId 过滤数据，患者只能查看自己的记录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4191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6498" y="345758"/>
            <a:ext cx="410609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患者门户 — 界面展示</a:t>
            </a:r>
          </a:p>
        </p:txBody>
      </p:sp>
      <p:sp>
        <p:nvSpPr>
          <p:cNvPr id="5" name="Line 5"/>
          <p:cNvSpPr/>
          <p:nvPr/>
        </p:nvSpPr>
        <p:spPr>
          <a:xfrm>
            <a:off x="952500" y="87630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762000" y="1333500"/>
            <a:ext cx="5143500" cy="3810000"/>
          </a:xfrm>
          <a:prstGeom prst="roundRect">
            <a:avLst>
              <a:gd name="adj" fmla="val 2000"/>
            </a:avLst>
          </a:prstGeom>
          <a:solidFill>
            <a:srgbClr val="FAFBFC"/>
          </a:solidFill>
          <a:ln w="19050">
            <a:solidFill>
              <a:srgbClr val="E2E8F0"/>
            </a:solidFill>
            <a:custDash>
              <a:ds d="300000" sp="200000"/>
            </a:custDash>
          </a:ln>
        </p:spPr>
      </p:sp>
      <p:sp>
        <p:nvSpPr>
          <p:cNvPr id="7" name="TextBox 7"/>
          <p:cNvSpPr txBox="1"/>
          <p:nvPr/>
        </p:nvSpPr>
        <p:spPr>
          <a:xfrm>
            <a:off x="1881568" y="306038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此处插入：自助挂号页面截图</a:t>
            </a:r>
          </a:p>
        </p:txBody>
      </p:sp>
      <p:sp>
        <p:nvSpPr>
          <p:cNvPr id="8" name="Rectangle 8"/>
          <p:cNvSpPr/>
          <p:nvPr/>
        </p:nvSpPr>
        <p:spPr>
          <a:xfrm>
            <a:off x="6286500" y="1333500"/>
            <a:ext cx="5143500" cy="3810000"/>
          </a:xfrm>
          <a:prstGeom prst="roundRect">
            <a:avLst>
              <a:gd name="adj" fmla="val 2000"/>
            </a:avLst>
          </a:prstGeom>
          <a:solidFill>
            <a:srgbClr val="FAFBFC"/>
          </a:solidFill>
          <a:ln w="19050">
            <a:solidFill>
              <a:srgbClr val="E2E8F0"/>
            </a:solidFill>
            <a:custDash>
              <a:ds d="300000" sp="200000"/>
            </a:custDash>
          </a:ln>
        </p:spPr>
      </p:sp>
      <p:sp>
        <p:nvSpPr>
          <p:cNvPr id="9" name="TextBox 9"/>
          <p:cNvSpPr txBox="1"/>
          <p:nvPr/>
        </p:nvSpPr>
        <p:spPr>
          <a:xfrm>
            <a:off x="7344985" y="3060382"/>
            <a:ext cx="302653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此处插入：我的处方/病历截图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4191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6498" y="345758"/>
            <a:ext cx="292532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JWT 认证机制</a:t>
            </a:r>
          </a:p>
        </p:txBody>
      </p:sp>
      <p:sp>
        <p:nvSpPr>
          <p:cNvPr id="5" name="Line 5"/>
          <p:cNvSpPr/>
          <p:nvPr/>
        </p:nvSpPr>
        <p:spPr>
          <a:xfrm>
            <a:off x="952500" y="8763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762000" y="1333500"/>
            <a:ext cx="10668000" cy="666750"/>
            <a:chOff x="762000" y="1333500"/>
            <a:chExt cx="10668000" cy="66675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1714500" cy="666750"/>
            </a:xfrm>
            <a:prstGeom prst="roundRect">
              <a:avLst>
                <a:gd name="adj" fmla="val 8571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07770" y="15906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用户登录</a:t>
              </a:r>
            </a:p>
          </p:txBody>
        </p:sp>
        <p:sp>
          <p:nvSpPr>
            <p:cNvPr id="8" name="Polygon 8"/>
            <p:cNvSpPr/>
            <p:nvPr/>
          </p:nvSpPr>
          <p:spPr>
            <a:xfrm>
              <a:off x="2571750" y="1524000"/>
              <a:ext cx="190500" cy="285750"/>
            </a:xfrm>
            <a:custGeom>
              <a:avLst/>
              <a:gdLst/>
              <a:ahLst/>
              <a:cxnLst/>
              <a:rect l="l" t="t" r="r" b="b"/>
              <a:pathLst>
                <a:path w="190500" h="285750">
                  <a:moveTo>
                    <a:pt x="0" y="0"/>
                  </a:moveTo>
                  <a:lnTo>
                    <a:pt x="190500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2857500" y="1333500"/>
              <a:ext cx="1905000" cy="666750"/>
            </a:xfrm>
            <a:prstGeom prst="roundRect">
              <a:avLst>
                <a:gd name="adj" fmla="val 8571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656880" y="1590675"/>
              <a:ext cx="23062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JwtUtil.generateToken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4857750" y="1524000"/>
              <a:ext cx="190500" cy="285750"/>
            </a:xfrm>
            <a:custGeom>
              <a:avLst/>
              <a:gdLst/>
              <a:ahLst/>
              <a:cxnLst/>
              <a:rect l="l" t="t" r="r" b="b"/>
              <a:pathLst>
                <a:path w="190500" h="285750">
                  <a:moveTo>
                    <a:pt x="0" y="0"/>
                  </a:moveTo>
                  <a:lnTo>
                    <a:pt x="190500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143500" y="1333500"/>
              <a:ext cx="1714500" cy="666750"/>
            </a:xfrm>
            <a:prstGeom prst="roundRect">
              <a:avLst>
                <a:gd name="adj" fmla="val 8571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477485" y="1590675"/>
              <a:ext cx="10465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返回 Token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6953250" y="1524000"/>
              <a:ext cx="190500" cy="285750"/>
            </a:xfrm>
            <a:custGeom>
              <a:avLst/>
              <a:gdLst/>
              <a:ahLst/>
              <a:cxnLst/>
              <a:rect l="l" t="t" r="r" b="b"/>
              <a:pathLst>
                <a:path w="190500" h="285750">
                  <a:moveTo>
                    <a:pt x="0" y="0"/>
                  </a:moveTo>
                  <a:lnTo>
                    <a:pt x="190500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39000" y="1333500"/>
              <a:ext cx="1905000" cy="666750"/>
            </a:xfrm>
            <a:prstGeom prst="roundRect">
              <a:avLst>
                <a:gd name="adj" fmla="val 8571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89546" y="1590675"/>
              <a:ext cx="1403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Axios 自动携带</a:t>
              </a:r>
            </a:p>
          </p:txBody>
        </p:sp>
        <p:sp>
          <p:nvSpPr>
            <p:cNvPr id="17" name="Polygon 17"/>
            <p:cNvSpPr/>
            <p:nvPr/>
          </p:nvSpPr>
          <p:spPr>
            <a:xfrm>
              <a:off x="9239250" y="1524000"/>
              <a:ext cx="190500" cy="285750"/>
            </a:xfrm>
            <a:custGeom>
              <a:avLst/>
              <a:gdLst/>
              <a:ahLst/>
              <a:cxnLst/>
              <a:rect l="l" t="t" r="r" b="b"/>
              <a:pathLst>
                <a:path w="190500" h="285750">
                  <a:moveTo>
                    <a:pt x="0" y="0"/>
                  </a:moveTo>
                  <a:lnTo>
                    <a:pt x="190500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9525000" y="1333500"/>
              <a:ext cx="1905000" cy="666750"/>
            </a:xfrm>
            <a:prstGeom prst="roundRect">
              <a:avLst>
                <a:gd name="adj" fmla="val 8571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63125" y="15906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拦截器解析验证</a:t>
              </a:r>
            </a:p>
          </p:txBody>
        </p:sp>
      </p:grpSp>
      <p:sp>
        <p:nvSpPr>
          <p:cNvPr id="21" name="Rectangle 21"/>
          <p:cNvSpPr/>
          <p:nvPr/>
        </p:nvSpPr>
        <p:spPr>
          <a:xfrm>
            <a:off x="762000" y="2476500"/>
            <a:ext cx="6858000" cy="2095500"/>
          </a:xfrm>
          <a:prstGeom prst="roundRect">
            <a:avLst>
              <a:gd name="adj" fmla="val 2727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46023" y="2624614"/>
            <a:ext cx="254042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String token = Jwts.builder()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1773" y="2891314"/>
            <a:ext cx="371451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C9A84C"/>
                </a:solidFill>
                <a:latin typeface="Consolas"/>
                <a:ea typeface="Microsoft YaHei"/>
                <a:cs typeface="Consolas"/>
              </a:rPr>
              <a:t>.subject(String.valueOf(userId)) // 用户ID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31773" y="3158014"/>
            <a:ext cx="343718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.claim("username", username) // 用户名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31773" y="3424714"/>
            <a:ext cx="384911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.claim("role", role) // admin/doctor/patient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3691414"/>
            <a:ext cx="382621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.claim("doctorId", doctorId) // 医生ID(可选)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1773" y="3958114"/>
            <a:ext cx="448823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E2E8F0"/>
                </a:solidFill>
                <a:latin typeface="Consolas"/>
                <a:ea typeface="Microsoft YaHei"/>
                <a:cs typeface="Consolas"/>
              </a:rPr>
              <a:t>.expiration(new Date(now + 86400000))// 24小时过期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1773" y="4224814"/>
            <a:ext cx="294405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.signWith(signingKey).compact();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8001000" y="2476500"/>
            <a:ext cx="3429000" cy="2261425"/>
            <a:chOff x="8001000" y="2476500"/>
            <a:chExt cx="3429000" cy="2261425"/>
          </a:xfrm>
        </p:grpSpPr>
        <p:sp>
          <p:nvSpPr>
            <p:cNvPr id="29" name="Rectangle 29"/>
            <p:cNvSpPr/>
            <p:nvPr/>
          </p:nvSpPr>
          <p:spPr>
            <a:xfrm>
              <a:off x="8001000" y="2476500"/>
              <a:ext cx="3429000" cy="2095500"/>
            </a:xfrm>
            <a:prstGeom prst="roundRect">
              <a:avLst>
                <a:gd name="adj" fmla="val 3636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82356" y="261556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权限控制链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83880" y="2981325"/>
              <a:ext cx="1508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登录 → JWT生成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83880" y="3286125"/>
              <a:ext cx="1660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请求 → 拦截器验证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83880" y="3590925"/>
              <a:ext cx="26255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Controller → 从Attribute取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83880" y="389572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前端 → 导航守卫角色隔离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83880" y="4200525"/>
              <a:ext cx="25393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医生列表 → selectByDeptId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84642" y="447389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只查 status=1 在职医生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923751" y="5076825"/>
            <a:ext cx="834449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密钥：NeusoftHospitalHIS2026SecretKeyForJWTTokenGeneration · 过期：86400000ms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4191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6498" y="345758"/>
            <a:ext cx="270353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安全设计要点</a:t>
            </a:r>
          </a:p>
        </p:txBody>
      </p:sp>
      <p:sp>
        <p:nvSpPr>
          <p:cNvPr id="5" name="Line 5"/>
          <p:cNvSpPr/>
          <p:nvPr/>
        </p:nvSpPr>
        <p:spPr>
          <a:xfrm>
            <a:off x="952500" y="8763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grpSp>
        <p:nvGrpSpPr>
          <p:cNvPr id="27" name="Group 27"/>
          <p:cNvGrpSpPr/>
          <p:nvPr/>
        </p:nvGrpSpPr>
        <p:grpSpPr>
          <a:xfrm>
            <a:off x="762000" y="1333500"/>
            <a:ext cx="10572750" cy="2381250"/>
            <a:chOff x="762000" y="1333500"/>
            <a:chExt cx="10572750" cy="238125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3333750" cy="2381250"/>
            </a:xfrm>
            <a:prstGeom prst="roundRect">
              <a:avLst>
                <a:gd name="adj" fmla="val 32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2594" y="150399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认证安全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4118" y="1917382"/>
              <a:ext cx="18046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密码 BCrypt 加密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4118" y="2250758"/>
              <a:ext cx="14601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JWT 令牌验证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4118" y="2584132"/>
              <a:ext cx="11495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24小时过期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118" y="2917508"/>
              <a:ext cx="24267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拦截器放行 /auth/login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118" y="3250882"/>
              <a:ext cx="17826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401 自动跳转登录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81500" y="1333500"/>
              <a:ext cx="3333750" cy="2381250"/>
            </a:xfrm>
            <a:prstGeom prst="roundRect">
              <a:avLst>
                <a:gd name="adj" fmla="val 32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62094" y="150399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数据安全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63618" y="19173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费用后端计算防篡改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63618" y="225075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外键约束防误删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63618" y="25841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删除前关联检查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3618" y="2917508"/>
              <a:ext cx="16948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JWT 防身份伪造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3618" y="32508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后端过滤用户数据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01000" y="1333500"/>
              <a:ext cx="3333750" cy="2381250"/>
            </a:xfrm>
            <a:prstGeom prst="roundRect">
              <a:avLst>
                <a:gd name="adj" fmla="val 32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81594" y="150399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角色隔离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83118" y="1917382"/>
              <a:ext cx="23275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导航守卫 beforeEnter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83118" y="2250758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患者不能访问员工页面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83118" y="25841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员工不能访问门户页面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83118" y="2917508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医生菜单有限权限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83118" y="32508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路由白名单机制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4191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6498" y="345758"/>
            <a:ext cx="321558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系统测试 — 策略</a:t>
            </a:r>
          </a:p>
        </p:txBody>
      </p:sp>
      <p:sp>
        <p:nvSpPr>
          <p:cNvPr id="5" name="Line 5"/>
          <p:cNvSpPr/>
          <p:nvPr/>
        </p:nvSpPr>
        <p:spPr>
          <a:xfrm>
            <a:off x="952500" y="8763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grpSp>
        <p:nvGrpSpPr>
          <p:cNvPr id="30" name="Group 30"/>
          <p:cNvGrpSpPr/>
          <p:nvPr/>
        </p:nvGrpSpPr>
        <p:grpSpPr>
          <a:xfrm>
            <a:off x="762000" y="1428750"/>
            <a:ext cx="11791423" cy="1905000"/>
            <a:chOff x="762000" y="1428750"/>
            <a:chExt cx="11791423" cy="1905000"/>
          </a:xfrm>
        </p:grpSpPr>
        <p:sp>
          <p:nvSpPr>
            <p:cNvPr id="6" name="Rectangle 6"/>
            <p:cNvSpPr/>
            <p:nvPr/>
          </p:nvSpPr>
          <p:spPr>
            <a:xfrm>
              <a:off x="762000" y="1428750"/>
              <a:ext cx="2476500" cy="1905000"/>
            </a:xfrm>
            <a:prstGeom prst="roundRect">
              <a:avLst>
                <a:gd name="adj" fmla="val 4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2594" y="1599248"/>
              <a:ext cx="162917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Arial"/>
                  <a:ea typeface="Arial"/>
                  <a:cs typeface="Arial"/>
                </a:rPr>
                <a:t>JwtUtilTest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4118" y="2012632"/>
              <a:ext cx="871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5 个用例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4118" y="234600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纯单元测试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4880" y="2695575"/>
              <a:ext cx="1283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无Spring无DB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880" y="298132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生成/解析/验证/过期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524250" y="1428750"/>
              <a:ext cx="2476500" cy="1905000"/>
            </a:xfrm>
            <a:prstGeom prst="roundRect">
              <a:avLst>
                <a:gd name="adj" fmla="val 4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04844" y="1599248"/>
              <a:ext cx="26352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6B6D4"/>
                  </a:solidFill>
                  <a:latin typeface="Arial"/>
                  <a:ea typeface="Arial"/>
                  <a:cs typeface="Arial"/>
                </a:rPr>
                <a:t>PatientServiceTest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06368" y="2012632"/>
              <a:ext cx="871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8 个用例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6368" y="2346008"/>
              <a:ext cx="14095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Mock Mapper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07130" y="2695575"/>
              <a:ext cx="1337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增删改查+分页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07130" y="2981325"/>
              <a:ext cx="17417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身份证查询+空结果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286500" y="1428750"/>
              <a:ext cx="2476500" cy="1905000"/>
            </a:xfrm>
            <a:prstGeom prst="roundRect">
              <a:avLst>
                <a:gd name="adj" fmla="val 4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67094" y="1599248"/>
              <a:ext cx="22498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0B981"/>
                  </a:solidFill>
                  <a:latin typeface="Arial"/>
                  <a:ea typeface="Arial"/>
                  <a:cs typeface="Arial"/>
                </a:rPr>
                <a:t>DrugServiceTest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8618" y="2012632"/>
              <a:ext cx="871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7 个用例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8618" y="2346008"/>
              <a:ext cx="14095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Mock Mapper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9380" y="26955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逻辑删除验证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9380" y="2981325"/>
              <a:ext cx="1337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参数透传+分页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048750" y="1428750"/>
              <a:ext cx="2476500" cy="1905000"/>
            </a:xfrm>
            <a:prstGeom prst="roundRect">
              <a:avLst>
                <a:gd name="adj" fmla="val 4000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29344" y="1599248"/>
              <a:ext cx="332407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EF4444"/>
                  </a:solidFill>
                  <a:latin typeface="Arial"/>
                  <a:ea typeface="Arial"/>
                  <a:cs typeface="Arial"/>
                </a:rPr>
                <a:t>RegistrationServiceTest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30868" y="2012632"/>
              <a:ext cx="9941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10 个用例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30868" y="2346008"/>
              <a:ext cx="14095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Mock Mapper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31630" y="2695575"/>
              <a:ext cx="1600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状态流转0→1/0→2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231630" y="2981325"/>
              <a:ext cx="15398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多条件过滤+分页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762000" y="38100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0F4F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37844" y="4075748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测试框架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39368" y="4489132"/>
            <a:ext cx="908991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JUnit Jupiter 5.10.2 + JUnit Platform 1.11.4 · Mockito 5.x · Maven Surefire 3.5.3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39368" y="4870132"/>
            <a:ext cx="809984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@Mock 模拟 Mapper · @InjectMocks 注入 Service · ArgumentCaptor 捕获参数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4191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6498" y="345758"/>
            <a:ext cx="410609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系统测试 — 精选用例</a:t>
            </a:r>
          </a:p>
        </p:txBody>
      </p:sp>
      <p:sp>
        <p:nvSpPr>
          <p:cNvPr id="5" name="Line 5"/>
          <p:cNvSpPr/>
          <p:nvPr/>
        </p:nvSpPr>
        <p:spPr>
          <a:xfrm>
            <a:off x="952500" y="87630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grpSp>
        <p:nvGrpSpPr>
          <p:cNvPr id="38" name="Group 38"/>
          <p:cNvGrpSpPr/>
          <p:nvPr/>
        </p:nvGrpSpPr>
        <p:grpSpPr>
          <a:xfrm>
            <a:off x="762000" y="1333500"/>
            <a:ext cx="10668000" cy="3385375"/>
            <a:chOff x="762000" y="1333500"/>
            <a:chExt cx="10668000" cy="3385375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10668000" cy="381000"/>
            </a:xfrm>
            <a:prstGeom prst="roundRect">
              <a:avLst>
                <a:gd name="adj" fmla="val 1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5642" y="14544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编号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07642" y="14544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测试名称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708142" y="14544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预期结果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762125"/>
              <a:ext cx="10668000" cy="381000"/>
            </a:xfrm>
            <a:prstGeom prst="rect">
              <a:avLst/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6023" y="1891189"/>
              <a:ext cx="6114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2563EB"/>
                  </a:solidFill>
                  <a:latin typeface="Consolas"/>
                  <a:ea typeface="Consolas"/>
                  <a:cs typeface="Consolas"/>
                </a:rPr>
                <a:t>TC-001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7642" y="188309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生成令牌后解析回读，所有声明应一致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08142" y="188309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四个字段回读值与输入完全一致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190750"/>
              <a:ext cx="106680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6023" y="2319814"/>
              <a:ext cx="6114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2563EB"/>
                  </a:solidFill>
                  <a:latin typeface="Consolas"/>
                  <a:ea typeface="Consolas"/>
                  <a:cs typeface="Consolas"/>
                </a:rPr>
                <a:t>TC-003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7642" y="231171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无效令牌应被拒绝（空字符串、乱码、签名错误）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08142" y="2311718"/>
              <a:ext cx="1249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全部返回 false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2619375"/>
              <a:ext cx="10668000" cy="381000"/>
            </a:xfrm>
            <a:prstGeom prst="rect">
              <a:avLst/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6023" y="2748439"/>
              <a:ext cx="6114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2563EB"/>
                  </a:solidFill>
                  <a:latin typeface="Consolas"/>
                  <a:ea typeface="Consolas"/>
                  <a:cs typeface="Consolas"/>
                </a:rPr>
                <a:t>TC-012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7642" y="2740342"/>
              <a:ext cx="4675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患者分页查询返回正确 PageResult（total=5, rows=2）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08142" y="2740342"/>
              <a:ext cx="26034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total=5, rows有2条, 姓名匹配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3048000"/>
              <a:ext cx="106680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6023" y="3177064"/>
              <a:ext cx="6114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2563EB"/>
                  </a:solidFill>
                  <a:latin typeface="Consolas"/>
                  <a:ea typeface="Consolas"/>
                  <a:cs typeface="Consolas"/>
                </a:rPr>
                <a:t>TC-014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07642" y="3168968"/>
              <a:ext cx="48143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新增药品参数透传（阿莫西林, AMX001, 15.50, 1000）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08142" y="3168968"/>
              <a:ext cx="32635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drugName/Code/Price/Stock全部匹配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3476625"/>
              <a:ext cx="10668000" cy="381000"/>
            </a:xfrm>
            <a:prstGeom prst="rect">
              <a:avLst/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6023" y="3605689"/>
              <a:ext cx="6114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2563EB"/>
                  </a:solidFill>
                  <a:latin typeface="Consolas"/>
                  <a:ea typeface="Consolas"/>
                  <a:cs typeface="Consolas"/>
                </a:rPr>
                <a:t>TC-025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07642" y="3597592"/>
              <a:ext cx="28488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挂号状态流转 — 待诊(0) → 已诊(1)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08142" y="3597592"/>
              <a:ext cx="35159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Mapper.updateStatus(1L, 1) 被调用1次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3905250"/>
              <a:ext cx="10668000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6023" y="4034314"/>
              <a:ext cx="6114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2563EB"/>
                  </a:solidFill>
                  <a:latin typeface="Consolas"/>
                  <a:ea typeface="Consolas"/>
                  <a:cs typeface="Consolas"/>
                </a:rPr>
                <a:t>TC-026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07642" y="4026218"/>
              <a:ext cx="30305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挂号状态流转 — 待诊(0) → 已取消(2)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08142" y="4026218"/>
              <a:ext cx="35159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Mapper.updateStatus(1L, 2) 被调用1次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62000" y="4333875"/>
              <a:ext cx="10668000" cy="381000"/>
            </a:xfrm>
            <a:prstGeom prst="rect">
              <a:avLst/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6023" y="4462939"/>
              <a:ext cx="6114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2563EB"/>
                  </a:solidFill>
                  <a:latin typeface="Consolas"/>
                  <a:ea typeface="Consolas"/>
                  <a:cs typeface="Consolas"/>
                </a:rPr>
                <a:t>TC-028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07642" y="4454842"/>
              <a:ext cx="47671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挂号按医生+状态过滤分页查询（doctorId=2, status=0）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08142" y="4454842"/>
              <a:ext cx="28215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total=1, 仅含符合过滤条件的记录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4191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6498" y="345758"/>
            <a:ext cx="455134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系统测试 — 结果与缺陷</a:t>
            </a:r>
          </a:p>
        </p:txBody>
      </p:sp>
      <p:sp>
        <p:nvSpPr>
          <p:cNvPr id="5" name="Line 5"/>
          <p:cNvSpPr/>
          <p:nvPr/>
        </p:nvSpPr>
        <p:spPr>
          <a:xfrm>
            <a:off x="952500" y="8763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grpSp>
        <p:nvGrpSpPr>
          <p:cNvPr id="15" name="Group 15"/>
          <p:cNvGrpSpPr/>
          <p:nvPr/>
        </p:nvGrpSpPr>
        <p:grpSpPr>
          <a:xfrm>
            <a:off x="762000" y="1333500"/>
            <a:ext cx="10572750" cy="1238250"/>
            <a:chOff x="762000" y="1333500"/>
            <a:chExt cx="10572750" cy="123825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3333750" cy="1238250"/>
            </a:xfrm>
            <a:prstGeom prst="roundRect">
              <a:avLst>
                <a:gd name="adj" fmla="val 6154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93523" y="1356360"/>
              <a:ext cx="167070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10B981"/>
                  </a:solidFill>
                  <a:latin typeface="Arial"/>
                  <a:ea typeface="Arial"/>
                  <a:cs typeface="Arial"/>
                </a:rPr>
                <a:t>30/30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76247" y="2107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全部通过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381500" y="1333500"/>
              <a:ext cx="3333750" cy="1238250"/>
            </a:xfrm>
            <a:prstGeom prst="roundRect">
              <a:avLst>
                <a:gd name="adj" fmla="val 6154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66065" y="1356360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2563EB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95747" y="2107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发现缺陷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001000" y="1333500"/>
              <a:ext cx="3333750" cy="1238250"/>
            </a:xfrm>
            <a:prstGeom prst="roundRect">
              <a:avLst>
                <a:gd name="adj" fmla="val 6154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36416" y="1356360"/>
              <a:ext cx="146291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06B6D4"/>
                  </a:solidFill>
                  <a:latin typeface="Arial"/>
                  <a:ea typeface="Arial"/>
                  <a:cs typeface="Arial"/>
                </a:rPr>
                <a:t>100%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26308" y="21078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通过率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2952750"/>
            <a:ext cx="10477500" cy="1928051"/>
            <a:chOff x="762000" y="2952750"/>
            <a:chExt cx="10477500" cy="1928051"/>
          </a:xfrm>
        </p:grpSpPr>
        <p:sp>
          <p:nvSpPr>
            <p:cNvPr id="16" name="Rectangle 16"/>
            <p:cNvSpPr/>
            <p:nvPr/>
          </p:nvSpPr>
          <p:spPr>
            <a:xfrm>
              <a:off x="762000" y="29527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rgbClr val="FEF2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98017" y="3092768"/>
              <a:ext cx="1194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BUG-001 严重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7255" y="3314700"/>
              <a:ext cx="42627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DrugMapper.update 缺少 status=#{status}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8017" y="35690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已修复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0" y="29527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rgbClr val="FEF2F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32017" y="3092768"/>
              <a:ext cx="1194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BUG-002 严重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31255" y="331470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自助挂号费用前端计算可被篡改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32017" y="35690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已修复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40005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rgbClr val="FFFBE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8017" y="4140518"/>
              <a:ext cx="1194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A84C"/>
                  </a:solidFill>
                  <a:latin typeface="Arial"/>
                  <a:ea typeface="Microsoft YaHei"/>
                  <a:cs typeface="Arial"/>
                </a:rPr>
                <a:t>BUG-003 一般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7255" y="4362450"/>
              <a:ext cx="3203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Service 缺少 @Transactional 注解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8017" y="46167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已修复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0" y="40005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32017" y="4140518"/>
              <a:ext cx="1194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BUG-004 轻微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31255" y="436245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RegistrationMapper 缺少症状字段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32017" y="46167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已修复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4191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6498" y="345758"/>
            <a:ext cx="225828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部署与运维</a:t>
            </a:r>
          </a:p>
        </p:txBody>
      </p:sp>
      <p:sp>
        <p:nvSpPr>
          <p:cNvPr id="5" name="Line 5"/>
          <p:cNvSpPr/>
          <p:nvPr/>
        </p:nvSpPr>
        <p:spPr>
          <a:xfrm>
            <a:off x="952500" y="87630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762000" y="1428750"/>
            <a:ext cx="10858500" cy="2928175"/>
            <a:chOff x="762000" y="1428750"/>
            <a:chExt cx="10858500" cy="2928175"/>
          </a:xfrm>
        </p:grpSpPr>
        <p:sp>
          <p:nvSpPr>
            <p:cNvPr id="6" name="Rectangle 6"/>
            <p:cNvSpPr/>
            <p:nvPr/>
          </p:nvSpPr>
          <p:spPr>
            <a:xfrm>
              <a:off x="762000" y="1428750"/>
              <a:ext cx="3429000" cy="2857500"/>
            </a:xfrm>
            <a:prstGeom prst="roundRect">
              <a:avLst>
                <a:gd name="adj" fmla="val 2667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2594" y="15992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后端部署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5642" y="2045018"/>
              <a:ext cx="5993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E293B"/>
                  </a:solidFill>
                  <a:latin typeface="Consolas"/>
                  <a:ea typeface="Consolas"/>
                  <a:cs typeface="Consolas"/>
                </a:rPr>
                <a:t>JDK 21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5642" y="2378392"/>
              <a:ext cx="1116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E293B"/>
                  </a:solidFill>
                  <a:latin typeface="Consolas"/>
                  <a:ea typeface="Consolas"/>
                  <a:cs typeface="Consolas"/>
                </a:rPr>
                <a:t>Maven 3.9.4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5642" y="2711768"/>
              <a:ext cx="9825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E293B"/>
                  </a:solidFill>
                  <a:latin typeface="Consolas"/>
                  <a:ea typeface="Consolas"/>
                  <a:cs typeface="Consolas"/>
                </a:rPr>
                <a:t>MySQL 8.0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5642" y="3140392"/>
              <a:ext cx="15584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E293B"/>
                  </a:solidFill>
                  <a:latin typeface="Consolas"/>
                  <a:ea typeface="Consolas"/>
                  <a:cs typeface="Consolas"/>
                </a:rPr>
                <a:t>mvn clean compile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5642" y="3473768"/>
              <a:ext cx="8042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E293B"/>
                  </a:solidFill>
                  <a:latin typeface="Consolas"/>
                  <a:ea typeface="Consolas"/>
                  <a:cs typeface="Consolas"/>
                </a:rPr>
                <a:t>mvn test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5642" y="38071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E293B"/>
                  </a:solidFill>
                  <a:latin typeface="Consolas"/>
                  <a:ea typeface="Consolas"/>
                  <a:cs typeface="Consolas"/>
                </a:rPr>
                <a:t>mvn package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642" y="4092892"/>
              <a:ext cx="15312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E293B"/>
                  </a:solidFill>
                  <a:latin typeface="Consolas"/>
                  <a:ea typeface="Consolas"/>
                  <a:cs typeface="Consolas"/>
                </a:rPr>
                <a:t>java -jar target/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476750" y="1428750"/>
              <a:ext cx="3429000" cy="2857500"/>
            </a:xfrm>
            <a:prstGeom prst="roundRect">
              <a:avLst>
                <a:gd name="adj" fmla="val 2667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57344" y="15992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前端部署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60392" y="2045018"/>
              <a:ext cx="1220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E293B"/>
                  </a:solidFill>
                  <a:latin typeface="Consolas"/>
                  <a:ea typeface="Consolas"/>
                  <a:cs typeface="Consolas"/>
                </a:rPr>
                <a:t>Node.js + npm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60392" y="2378392"/>
              <a:ext cx="1047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E293B"/>
                  </a:solidFill>
                  <a:latin typeface="Consolas"/>
                  <a:ea typeface="Consolas"/>
                  <a:cs typeface="Consolas"/>
                </a:rPr>
                <a:t>Vue 3 + Vite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60392" y="27117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E293B"/>
                  </a:solidFill>
                  <a:latin typeface="Consolas"/>
                  <a:ea typeface="Consolas"/>
                  <a:cs typeface="Consolas"/>
                </a:rPr>
                <a:t>npm install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60392" y="3140392"/>
              <a:ext cx="16130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E293B"/>
                  </a:solidFill>
                  <a:latin typeface="Consolas"/>
                  <a:ea typeface="Consolas"/>
                  <a:cs typeface="Consolas"/>
                </a:rPr>
                <a:t>npm run dev (dev)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60392" y="3473768"/>
              <a:ext cx="18219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E293B"/>
                  </a:solidFill>
                  <a:latin typeface="Consolas"/>
                  <a:ea typeface="Consolas"/>
                  <a:cs typeface="Consolas"/>
                </a:rPr>
                <a:t>npm run build (prod)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60392" y="3807142"/>
              <a:ext cx="831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端口 3000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60392" y="4092892"/>
              <a:ext cx="13949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代理 /api → 8080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191500" y="1428750"/>
              <a:ext cx="3429000" cy="2857500"/>
            </a:xfrm>
            <a:prstGeom prst="roundRect">
              <a:avLst>
                <a:gd name="adj" fmla="val 2667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72094" y="15992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构建修复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75142" y="2045018"/>
              <a:ext cx="2339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原 pom.xml surefire 3.1.2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75142" y="237839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本地仓库缺少依赖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75142" y="2711768"/>
              <a:ext cx="18946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升级 surefire → 3.5.3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75142" y="3140392"/>
              <a:ext cx="23853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覆盖 junit-platform 1.11.4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75142" y="3473768"/>
              <a:ext cx="15493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显式声明 launcher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75142" y="3807142"/>
              <a:ext cx="1837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解决: BUILD SUCCESS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75142" y="4092892"/>
              <a:ext cx="1485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30个测试全部通过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2078298" y="4774882"/>
            <a:ext cx="803540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默认账户：admin/admin123 · 医生 zhangming/123456 · 患者 身份证号/123456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4191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6498" y="345758"/>
            <a:ext cx="270353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系统效果展示</a:t>
            </a:r>
          </a:p>
        </p:txBody>
      </p:sp>
      <p:sp>
        <p:nvSpPr>
          <p:cNvPr id="5" name="Line 5"/>
          <p:cNvSpPr/>
          <p:nvPr/>
        </p:nvSpPr>
        <p:spPr>
          <a:xfrm>
            <a:off x="952500" y="8763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44118" y="1060132"/>
            <a:ext cx="604447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12 个业务场景 · 19 个 Vue 页面 · 40+ API 接口 · 三端分离</a:t>
            </a:r>
          </a:p>
        </p:txBody>
      </p:sp>
      <p:sp>
        <p:nvSpPr>
          <p:cNvPr id="7" name="Rectangle 7"/>
          <p:cNvSpPr/>
          <p:nvPr/>
        </p:nvSpPr>
        <p:spPr>
          <a:xfrm>
            <a:off x="1333500" y="1619250"/>
            <a:ext cx="9525000" cy="4286250"/>
          </a:xfrm>
          <a:prstGeom prst="roundRect">
            <a:avLst>
              <a:gd name="adj" fmla="val 1778"/>
            </a:avLst>
          </a:prstGeom>
          <a:solidFill>
            <a:srgbClr val="FAFBFC"/>
          </a:solidFill>
          <a:ln w="19050">
            <a:solidFill>
              <a:srgbClr val="E2E8F0"/>
            </a:solidFill>
            <a:custDash>
              <a:ds d="300000" sp="200000"/>
            </a:custDash>
          </a:ln>
        </p:spPr>
      </p:sp>
      <p:sp>
        <p:nvSpPr>
          <p:cNvPr id="8" name="TextBox 8"/>
          <p:cNvSpPr txBox="1"/>
          <p:nvPr/>
        </p:nvSpPr>
        <p:spPr>
          <a:xfrm>
            <a:off x="3965067" y="3392805"/>
            <a:ext cx="426186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此处插入：系统核心页面效果截图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33382" y="3917632"/>
            <a:ext cx="592523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首页仪表盘 · 挂号管理 · 接诊工作台 · 患者门户 · 处方明细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4191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6498" y="345758"/>
            <a:ext cx="225828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总结与展望</a:t>
            </a:r>
          </a:p>
        </p:txBody>
      </p:sp>
      <p:sp>
        <p:nvSpPr>
          <p:cNvPr id="5" name="Line 5"/>
          <p:cNvSpPr/>
          <p:nvPr/>
        </p:nvSpPr>
        <p:spPr>
          <a:xfrm>
            <a:off x="952500" y="8763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grpSp>
        <p:nvGrpSpPr>
          <p:cNvPr id="27" name="Group 27"/>
          <p:cNvGrpSpPr/>
          <p:nvPr/>
        </p:nvGrpSpPr>
        <p:grpSpPr>
          <a:xfrm>
            <a:off x="762000" y="1428750"/>
            <a:ext cx="10572750" cy="2859215"/>
            <a:chOff x="762000" y="1428750"/>
            <a:chExt cx="10572750" cy="2859215"/>
          </a:xfrm>
        </p:grpSpPr>
        <p:sp>
          <p:nvSpPr>
            <p:cNvPr id="6" name="Rectangle 6"/>
            <p:cNvSpPr/>
            <p:nvPr/>
          </p:nvSpPr>
          <p:spPr>
            <a:xfrm>
              <a:off x="762000" y="1428750"/>
              <a:ext cx="3333750" cy="2857500"/>
            </a:xfrm>
            <a:prstGeom prst="roundRect">
              <a:avLst>
                <a:gd name="adj" fmla="val 2667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2594" y="15992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实训收获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4118" y="2060258"/>
              <a:ext cx="29870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Spring Boot + Vue3 全栈开发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4118" y="244125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分层架构设计与实现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4118" y="2822258"/>
              <a:ext cx="21642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JWT 认证与安全设计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118" y="3203258"/>
              <a:ext cx="28551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JUnit 5 + Mockito 单元测试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118" y="3584258"/>
              <a:ext cx="24383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Git 版本控制与团队协作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396525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缺陷定位与调试修复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81500" y="1428750"/>
              <a:ext cx="3333750" cy="2857500"/>
            </a:xfrm>
            <a:prstGeom prst="roundRect">
              <a:avLst>
                <a:gd name="adj" fmla="val 2667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562094" y="15992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改进方向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63618" y="2060258"/>
              <a:ext cx="23845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增加 Controller 层测试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63618" y="244125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完善操作日志与审计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3618" y="2822258"/>
              <a:ext cx="16937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国际化 i18n 支持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3618" y="3203258"/>
              <a:ext cx="19450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Docker 容器化部署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63618" y="358425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前端单元测试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63618" y="3965258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响应式移动端适配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01000" y="1428750"/>
              <a:ext cx="3333750" cy="2857500"/>
            </a:xfrm>
            <a:prstGeom prst="roundRect">
              <a:avLst>
                <a:gd name="adj" fmla="val 2667"/>
              </a:avLst>
            </a:prstGeom>
            <a:solidFill>
              <a:srgbClr val="F0F4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81594" y="1599248"/>
              <a:ext cx="571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致谢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01000" y="2176177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感谢各位老师的指导和评审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55654" y="3171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项目地址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71866" y="35690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2563EB"/>
                  </a:solidFill>
                  <a:latin typeface="Consolas"/>
                  <a:ea typeface="Consolas"/>
                  <a:cs typeface="Consolas"/>
                </a:rPr>
                <a:t>github.com/xuyinya/hospital-his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511040" y="5694998"/>
            <a:ext cx="316992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谢谢！请各位老师批评指正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2460</Words>
  <Application>Microsoft Office PowerPoint</Application>
  <PresentationFormat>宽屏</PresentationFormat>
  <Paragraphs>431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jy xu</cp:lastModifiedBy>
  <cp:revision>3</cp:revision>
  <dcterms:created xsi:type="dcterms:W3CDTF">2026-07-01T07:25:04Z</dcterms:created>
  <dcterms:modified xsi:type="dcterms:W3CDTF">2026-07-01T07:32:40Z</dcterms:modified>
  <cp:category/>
  <cp:contentStatus/>
  <dc:language/>
</cp:coreProperties>
</file>